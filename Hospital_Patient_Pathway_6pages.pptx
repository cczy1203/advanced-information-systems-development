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</p:sldIdLst>
  <p:sldSz cx="12192000" cy="68580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| Cover &amp; Project Overview</a:t>
            </a:r>
          </a:p>
          <a:p>
            <a:r>
              <a:t>- Course: Advanced Information Systems Development; case: Hospital Patient Referral, Treatment and Administration.</a:t>
            </a:r>
          </a:p>
          <a:p>
            <a:r>
              <a:t>- Deliverable form: one BPMN collaboration with 14 participants — 9 hospital pools plus 5 external parties (4 external suppliers and the patient).</a:t>
            </a:r>
          </a:p>
          <a:p>
            <a:r>
              <a:t>- Deliverables: a runnable .bpmn model with its deployment configuration, 36 Camunda Forms, 36 Java external workers, and the test plan with evidence.</a:t>
            </a:r>
          </a:p>
          <a:p>
            <a:r>
              <a:t>- Runtime platform: Camunda 8 (local c8run 8.10.0-alpha5), Camunda Modeler 5.51.0; workers built on zeebe-client-java 8.9.0 / JDK 21.</a:t>
            </a:r>
          </a:p>
          <a:p>
            <a:r>
              <a:t>- Verified: 9 process definitions and 36 forms were accepted at deployment, and every scripted path completed with incidents: none.</a:t>
            </a:r>
          </a:p>
          <a:p/>
          <a:p>
            <a:r>
              <a:t>中文 | 封面与项目概览</a:t>
            </a:r>
          </a:p>
          <a:p>
            <a:r>
              <a:t>- 课程：Advanced Information Systems Development；案例：医院患者转诊、治疗与行政管理。</a:t>
            </a:r>
          </a:p>
          <a:p>
            <a:r>
              <a:t>- 交付形态：一份 BPMN collaboration，含 14 个 participant —— 9 个医院 pool 加 5 个院外参与方（4 家外部供应商与患者）。</a:t>
            </a:r>
          </a:p>
          <a:p>
            <a:r>
              <a:t>- 交付物：可运行的 .bpmn 模型及部署配置、36 个 Camunda Form、36 个 Java external worker，以及测试计划与证据。</a:t>
            </a:r>
          </a:p>
          <a:p>
            <a:r>
              <a:t>- 运行平台：Camunda 8（本地 c8run 8.10.0-alpha5）、Camunda Modeler 5.51.0，workers 基于 zeebe-client-java 8.9.0 / JDK 21。</a:t>
            </a:r>
          </a:p>
          <a:p>
            <a:r>
              <a:t>- 已实测：9 个流程定义 + 36 个表单部署被接受，全部脚本路径 incidents: none。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| Operational Diagram</a:t>
            </a:r>
          </a:p>
          <a:p>
            <a:r>
              <a:t>- One executable collaboration diagram covers every required element: participants (14 pools), responsibilities (19 lanes), activities, decisions, messages, business rules, exceptions, system boundaries and external services.</a:t>
            </a:r>
          </a:p>
          <a:p>
            <a:r>
              <a:t>- Scale: 381 shapes, 312 sequence flows, 20 message flows, 39 user tasks, 51 service tasks, 42 gateways, 18 boundary events.</a:t>
            </a:r>
          </a:p>
          <a:p>
            <a:r>
              <a:t>- Operability: every user task is bound to a Camunda Form and a candidate group; every service task is bound to a job type; every gateway carries a FEEL condition.</a:t>
            </a:r>
          </a:p>
          <a:p>
            <a:r>
              <a:t>- Pools collaborate through message handoffs (throw event to message start or intermediate catch) rather than one large process — the 9 pools each start their own instance.</a:t>
            </a:r>
          </a:p>
          <a:p>
            <a:r>
              <a:t>- Diagram as evidence: the overview and the one-pool-per-page section renders under diagram/sections/ are produced by headless bpmn-js and are used for teaching.</a:t>
            </a:r>
          </a:p>
          <a:p/>
          <a:p>
            <a:r>
              <a:t>中文 | 可操作流程图</a:t>
            </a:r>
          </a:p>
          <a:p>
            <a:r>
              <a:t>- 一张可执行的协作图覆盖全部要素：参与者（14 个 pool）、职责（19 条 lane）、活动、决策、消息、业务规则、异常、系统边界与外部服务。</a:t>
            </a:r>
          </a:p>
          <a:p>
            <a:r>
              <a:t>- 规模：381 个绘制形状、312 条顺序流、20 条消息流、39 个 user task、51 个 service task、42 个 gateway、18 个 boundary event。</a:t>
            </a:r>
          </a:p>
          <a:p>
            <a:r>
              <a:t>- 可操作性：每个 user task 绑定 Camunda Form 与候选组；每个 service task 绑定 job type；每个 gateway 带 FEEL 条件。</a:t>
            </a:r>
          </a:p>
          <a:p>
            <a:r>
              <a:t>- 池间协作靠消息接力（throw event 到 message start 或中间捕获事件），而不是一条大流程 —— 9 个池各自独立起实例。</a:t>
            </a:r>
          </a:p>
          <a:p>
            <a:r>
              <a:t>- 图纸即证据：整图与 diagram/sections/ 下“一池一页”的分区图由 bpmn-js 无头渲染，用于课堂讲解。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| Project Structure — 9 Pools, 36 Forms &amp; Worker Counts</a:t>
            </a:r>
          </a:p>
          <a:p>
            <a:r>
              <a:t>- 9 executable hospital pools: Medical Secretaries, Consultants, Outpatient Bookings, Treatment &amp; Chemotherapy Bookings, Finance, Clinical Nurse Specialists, Call Handling, Pathway Coordinators and Administrative Management.</a:t>
            </a:r>
          </a:p>
          <a:p>
            <a:r>
              <a:t>- 5 external participants: the external communication service, the payment provider, the lab and imaging service, the scheduling service, and the patient.</a:t>
            </a:r>
          </a:p>
          <a:p>
            <a:r>
              <a:t>- 36 Camunda Forms are bound to 39 user tasks, because 3 forms are reused across several tasks.</a:t>
            </a:r>
          </a:p>
          <a:p>
            <a:r>
              <a:t>- Form distribution by pool: Consultants 8, Finance 7, Outpatient Bookings 7, Medical Secretaries 4, Treatment Bookings 4, Call Handling 4, Pathway Coordinators 2, Administrative Management 2, CNS 1.</a:t>
            </a:r>
          </a:p>
          <a:p>
            <a:r>
              <a:t>- Workers: 36 Java worker classes with 37 job-type subscriptions, covering 36 job types — 35 business jobs plus 1 publish-message.</a:t>
            </a:r>
          </a:p>
          <a:p>
            <a:r>
              <a:t>- Other model scale: 42 gateways, 18 boundary events, 9 error codes and 3 collapsed subprocesses.</a:t>
            </a:r>
          </a:p>
          <a:p/>
          <a:p>
            <a:r>
              <a:t>中文 | 项目结构：9 个 Pool、36 个 Form 与 Worker 数量</a:t>
            </a:r>
          </a:p>
          <a:p>
            <a:r>
              <a:t>- 9 个可执行的医院 pool：Medical Secretaries、Consultants、Outpatient Bookings、Treatment &amp; Chemotherapy Bookings、Finance、Clinical Nurse Specialists、Call Handling、Pathway Coordinators、Administrative Management。</a:t>
            </a:r>
          </a:p>
          <a:p>
            <a:r>
              <a:t>- 5 个院外 participant：外部通信服务、支付服务商、检验与影像服务、排程服务以及患者。</a:t>
            </a:r>
          </a:p>
          <a:p>
            <a:r>
              <a:t>- 36 个 Camunda Form 绑定在 39 个 user task 上，因为其中 3 个表单被多个任务复用。</a:t>
            </a:r>
          </a:p>
          <a:p>
            <a:r>
              <a:t>- 表单按池分布：Consultants 8、Finance 7、Outpatient Bookings 7、Medical Secretaries 4、Treatment Bookings 4、Call Handling 4、Pathway Coordinators 2、Administrative Management 2、CNS 1。</a:t>
            </a:r>
          </a:p>
          <a:p>
            <a:r>
              <a:t>- Worker 数量：36 个 Java worker 类、37 个 job-type 订阅，覆盖 36 个 job type —— 35 个业务作业加 1 个 publish-message。</a:t>
            </a:r>
          </a:p>
          <a:p>
            <a:r>
              <a:t>- 其他规模：42 个 gateway、18 个 boundary event、9 个错误码、3 个折叠子流程。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| Service Task &amp; Gateway Implementation</a:t>
            </a:r>
          </a:p>
          <a:p>
            <a:r>
              <a:t>- Service tasks uniformly use Zeebe external tasks: the taskDefinition type is the job type, for example referral.check-supporting-documents or finance.calculate-charge.</a:t>
            </a:r>
          </a:p>
          <a:p>
            <a:r>
              <a:t>- Each Java worker long-poll subscribes to its job type, executes the business logic, then completes or fails the job; ioMapping maps process variables in and out.</a:t>
            </a:r>
          </a:p>
          <a:p>
            <a:r>
              <a:t>- Exception path: a worker throws a BPMN error which a boundary event catches and routes to the exception branch. There are 9 named error codes, such as REFERRAL_PACK_UNREADABLE and PAYMENT_CONFIRMATION_LOST.</a:t>
            </a:r>
          </a:p>
          <a:p>
            <a:r>
              <a:t>- Retry and compensation: external capacity is retried by count (limit 3); exceeding the limit triggers compensation that releases the temporary booking sequences. There are 2 compensation boundary events and 2 compensation throw events.</a:t>
            </a:r>
          </a:p>
          <a:p>
            <a:r>
              <a:t>- Gateways: 42 in total — 35 exclusive, 3 inclusive, 2 parallel and 2 event-based. Conditions are written in FEEL, for example dispatchStatus = "SENT" or contactOutcome = "REACHED".</a:t>
            </a:r>
          </a:p>
          <a:p>
            <a:r>
              <a:t>- The 2 event-based gateways wait for inter-pool messages, so the process pauses until a message arrives from another pool. Business rules live in gateway conditions and form validation, and responsibilities are separated by lanes.</a:t>
            </a:r>
          </a:p>
          <a:p/>
          <a:p>
            <a:r>
              <a:t>中文 | Service Task 与 Gateway 的实现方式</a:t>
            </a:r>
          </a:p>
          <a:p>
            <a:r>
              <a:t>- Service task 统一使用 Zeebe external task：taskDefinition 的 type 就是 job type，例如 referral.check-supporting-documents、finance.calculate-charge。</a:t>
            </a:r>
          </a:p>
          <a:p>
            <a:r>
              <a:t>- 每个 Java worker 以长轮询订阅自己的 job type，执行业务逻辑后 complete 或 fail；输入输出变量通过 ioMapping 映射。</a:t>
            </a:r>
          </a:p>
          <a:p>
            <a:r>
              <a:t>- 异常路径：worker 抛出 BPMN error，由 boundary event 捕获后转到异常分支。共有 9 个命名错误码，如 REFERRAL_PACK_UNREADABLE、PAYMENT_CONFIRMATION_LOST。</a:t>
            </a:r>
          </a:p>
          <a:p>
            <a:r>
              <a:t>- 重试与补偿：外部容量按计数重试（上限 3），超限触发补偿，释放临时预约序列。共有 2 个补偿边界事件与 2 个补偿抛出事件。</a:t>
            </a:r>
          </a:p>
          <a:p>
            <a:r>
              <a:t>- Gateway：共 42 个 —— 35 个 exclusive、3 个 inclusive、2 个 parallel、2 个 event-based。条件用 FEEL 表达式书写，例如 dispatchStatus = "SENT"、contactOutcome = "REACHED"。</a:t>
            </a:r>
          </a:p>
          <a:p>
            <a:r>
              <a:t>- 2 个 event-based gateway 用于等待池间消息，流程会暂停直到其他池发来消息。业务规则落在网关条件与表单校验上，职责由 lane 分离。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| Collapsed BPMN + Driver Script — Running 36 Forms across 9 Pools Continuously</a:t>
            </a:r>
          </a:p>
          <a:p>
            <a:r>
              <a:t>- Three collapsed subprocesses absorb the repetitive administrative work inside the pools: Dispatch the clinic letter, Contact the patient by telephone, and Produce the weekly overdue correspondence list.</a:t>
            </a:r>
          </a:p>
          <a:p>
            <a:r>
              <a:t>- The collapsed boxes are folded on the main plane but keep their diagram interchange, so Camunda Modeler still shows the fully laid-out internal flows; lint errors drop from 39 to 2.</a:t>
            </a:r>
          </a:p>
          <a:p>
            <a:r>
              <a:t>- The driver tools/auto_driver.py closes the three unattended gaps: it runs workers for the 35 external job types, fills and announces all forms through the Tasklist v2 REST API, and replays inter-pool message handoffs with correlation keys read from live subscriptions instead of guessing them.</a:t>
            </a:r>
          </a:p>
          <a:p>
            <a:r>
              <a:t>- 34 scenarios chain all 36 forms together: the main path plus branches such as declined payment, confirmation lost, two-stage escalation and chemotherapy capacity.</a:t>
            </a:r>
          </a:p>
          <a:p>
            <a:r>
              <a:t>- Two modes: python3 auto_driver.py --all for a fully automated regression run of about 80 seconds, and --all --manual-forms --timeout 600 for demos and evidence, where a human clicks through every task in Tasklist.</a:t>
            </a:r>
          </a:p>
          <a:p>
            <a:r>
              <a:t>- The demo-timers variant shortens the weekly report R/PT168H, the capacity retry P3D and the overdue boundary P7D to 15 seconds so the escalation ladder and compensation can be demonstrated live.</a:t>
            </a:r>
          </a:p>
          <a:p>
            <a:r>
              <a:t>- Result: forms covered 36/36; the 9 pools start instances independently and present a continuous run through message handoffs.</a:t>
            </a:r>
          </a:p>
          <a:p/>
          <a:p>
            <a:r>
              <a:t>中文 | 折叠 BPMN + Driver 脚本：让 9 个 Pool 的 36 个 Form 连续运行</a:t>
            </a:r>
          </a:p>
          <a:p>
            <a:r>
              <a:t>- 3 个折叠（collapsed）子流程收纳池内重复性的行政工作：Dispatch the clinic letter、Contact the patient by telephone、Produce the weekly overdue correspondence list。</a:t>
            </a:r>
          </a:p>
          <a:p>
            <a:r>
              <a:t>- 折叠框在主平面收起，但仍保留 diagram interchange，Camunda Modeler 打开即可看到已排版好的内部流程；lint 报错由 39 降至 2。</a:t>
            </a:r>
          </a:p>
          <a:p>
            <a:r>
              <a:t>- driver 脚本 tools/auto_driver.py 补齐无人值守时缺失的三件事：为 35 个外部 job type 代跑 worker；通过 Tasklist v2 REST 代填并播报全部表单；重放池间接力消息，相关性键从实时订阅读取而不是靠猜。</a:t>
            </a:r>
          </a:p>
          <a:p>
            <a:r>
              <a:t>- 34 个场景把 36 个 form 串起来：主路径之外还有拒付、确认丢失、两段升级、化疗容量等分支。</a:t>
            </a:r>
          </a:p>
          <a:p>
            <a:r>
              <a:t>- 两种模式：python3 auto_driver.py --all 为全自动回归，约 80 秒；--all --manual-forms --timeout 600 用于演示与取证，由人在 Tasklist 中逐个点击。</a:t>
            </a:r>
          </a:p>
          <a:p>
            <a:r>
              <a:t>- demo-timers 演示变体把周报 R/PT168H、容量重试 P3D、逾期边界 P7D 缩短为 15 秒，使升级阶梯与补偿可现场演示。</a:t>
            </a:r>
          </a:p>
          <a:p>
            <a:r>
              <a:t>- 结果：forms covered 36/36；9 个 pool 各自独立起实例，靠消息接力呈现连续运行。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7EF3BA-A3F0-4C20-87CF-2D1BB2B38CBB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8D6EAB-253A-464A-8644-E6B2C0957C3E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9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9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9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9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9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9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9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9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defRPr>
            </a:lvl1pPr>
          </a:lstStyle>
          <a:p>
            <a:pPr indent="0" algn="r">
              <a:buNone/>
            </a:pPr>
            <a:fld id="{05048B9F-0288-4534-B9DC-562F2A9E0B4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rPr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4" Type="http://schemas.openxmlformats.org/officeDocument/2006/relationships/notesSlide" Target="../notesSlides/notesSlide3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48.png"/><Relationship Id="rId21" Type="http://schemas.openxmlformats.org/officeDocument/2006/relationships/image" Target="../media/image47.png"/><Relationship Id="rId20" Type="http://schemas.openxmlformats.org/officeDocument/2006/relationships/image" Target="../media/image46.png"/><Relationship Id="rId2" Type="http://schemas.openxmlformats.org/officeDocument/2006/relationships/image" Target="../media/image28.png"/><Relationship Id="rId19" Type="http://schemas.openxmlformats.org/officeDocument/2006/relationships/image" Target="../media/image45.png"/><Relationship Id="rId18" Type="http://schemas.openxmlformats.org/officeDocument/2006/relationships/image" Target="../media/image44.png"/><Relationship Id="rId17" Type="http://schemas.openxmlformats.org/officeDocument/2006/relationships/image" Target="../media/image43.png"/><Relationship Id="rId16" Type="http://schemas.openxmlformats.org/officeDocument/2006/relationships/image" Target="../media/image42.png"/><Relationship Id="rId15" Type="http://schemas.openxmlformats.org/officeDocument/2006/relationships/image" Target="../media/image41.png"/><Relationship Id="rId14" Type="http://schemas.openxmlformats.org/officeDocument/2006/relationships/image" Target="../media/image40.png"/><Relationship Id="rId13" Type="http://schemas.openxmlformats.org/officeDocument/2006/relationships/image" Target="../media/image39.png"/><Relationship Id="rId12" Type="http://schemas.openxmlformats.org/officeDocument/2006/relationships/image" Target="../media/image38.png"/><Relationship Id="rId11" Type="http://schemas.openxmlformats.org/officeDocument/2006/relationships/image" Target="../media/image37.png"/><Relationship Id="rId10" Type="http://schemas.openxmlformats.org/officeDocument/2006/relationships/image" Target="../media/image36.png"/><Relationship Id="rId1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62.png"/><Relationship Id="rId13" Type="http://schemas.openxmlformats.org/officeDocument/2006/relationships/image" Target="../media/image61.png"/><Relationship Id="rId12" Type="http://schemas.openxmlformats.org/officeDocument/2006/relationships/image" Target="../media/image60.png"/><Relationship Id="rId11" Type="http://schemas.openxmlformats.org/officeDocument/2006/relationships/image" Target="../media/image59.png"/><Relationship Id="rId10" Type="http://schemas.openxmlformats.org/officeDocument/2006/relationships/image" Target="../media/image58.png"/><Relationship Id="rId1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png"/><Relationship Id="rId8" Type="http://schemas.openxmlformats.org/officeDocument/2006/relationships/image" Target="../media/image70.png"/><Relationship Id="rId7" Type="http://schemas.openxmlformats.org/officeDocument/2006/relationships/image" Target="../media/image69.png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73.png"/><Relationship Id="rId10" Type="http://schemas.openxmlformats.org/officeDocument/2006/relationships/image" Target="../media/image72.png"/><Relationship Id="rId1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vedas_media_0_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pic>
        <p:nvPicPr>
          <p:cNvPr id="75" name="vedas_media_0_1"/>
          <p:cNvPicPr/>
          <p:nvPr/>
        </p:nvPicPr>
        <p:blipFill>
          <a:blip r:embed="rId2"/>
          <a:stretch>
            <a:fillRect/>
          </a:stretch>
        </p:blipFill>
        <p:spPr>
          <a:xfrm>
            <a:off x="10477500" y="0"/>
            <a:ext cx="1714500" cy="1714500"/>
          </a:xfrm>
          <a:prstGeom prst="rect">
            <a:avLst/>
          </a:prstGeom>
        </p:spPr>
      </p:pic>
      <p:pic>
        <p:nvPicPr>
          <p:cNvPr id="76" name="vedas_media_0_2"/>
          <p:cNvPicPr/>
          <p:nvPr/>
        </p:nvPicPr>
        <p:blipFill>
          <a:blip r:embed="rId3"/>
          <a:stretch>
            <a:fillRect/>
          </a:stretch>
        </p:blipFill>
        <p:spPr>
          <a:xfrm>
            <a:off x="10915650" y="438150"/>
            <a:ext cx="419100" cy="419100"/>
          </a:xfrm>
          <a:prstGeom prst="rect">
            <a:avLst/>
          </a:prstGeom>
        </p:spPr>
      </p:pic>
      <p:pic>
        <p:nvPicPr>
          <p:cNvPr id="77" name="vedas_media_0_3"/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" y="409575"/>
            <a:ext cx="4530923" cy="152400"/>
          </a:xfrm>
          <a:prstGeom prst="rect">
            <a:avLst/>
          </a:prstGeom>
        </p:spPr>
      </p:pic>
      <p:sp>
        <p:nvSpPr>
          <p:cNvPr id="12" name="tb_0"/>
          <p:cNvSpPr txBox="1"/>
          <p:nvPr/>
        </p:nvSpPr>
        <p:spPr>
          <a:xfrm>
            <a:off x="609480" y="409320"/>
            <a:ext cx="6665760" cy="188280"/>
          </a:xfrm>
          <a:prstGeom prst="rect">
            <a:avLst/>
          </a:prstGeom>
          <a:noFill/>
          <a:ln w="0">
            <a:noFill/>
          </a:ln>
        </p:spPr>
        <p:txBody>
          <a:bodyPr lIns="95040" tIns="0" rIns="0" bIns="0" anchor="ctr">
            <a:noAutofit/>
          </a:bodyPr>
          <a:p>
            <a:pPr>
              <a:lnSpc>
                <a:spcPts val="1170"/>
              </a:lnSpc>
            </a:pPr>
            <a:r>
              <a:rPr lang="en-US" sz="980" b="1" u="none" strike="noStrike" spc="187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COURSE ASSIGNMENT · BPMN PROCESS AUTOMATION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13" name="tb_1"/>
          <p:cNvSpPr txBox="1"/>
          <p:nvPr/>
        </p:nvSpPr>
        <p:spPr>
          <a:xfrm>
            <a:off x="609480" y="676080"/>
            <a:ext cx="13167360" cy="47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3450"/>
              </a:lnSpc>
            </a:pPr>
            <a:r>
              <a:rPr lang="en-US" sz="3000" b="1" u="none" strike="noStrike" spc="-37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Cover &amp; Project Overview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14" name="tb_2"/>
          <p:cNvSpPr txBox="1"/>
          <p:nvPr/>
        </p:nvSpPr>
        <p:spPr>
          <a:xfrm>
            <a:off x="609480" y="1190520"/>
            <a:ext cx="13167360" cy="20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440"/>
              </a:lnSpc>
            </a:pPr>
            <a:r>
              <a:rPr lang="en-US" sz="1200" b="0" u="none" strike="noStrike">
                <a:solidFill>
                  <a:srgbClr val="5A6270"/>
                </a:solidFill>
                <a:effectLst/>
                <a:uFillTx/>
                <a:latin typeface="Segoe UI"/>
                <a:ea typeface="Segoe UI"/>
              </a:rPr>
              <a:t>Hospital Patient Referral, Treatment and Administration — a Camunda 8 BPMN collaboration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78" name="vedas_media_0_4"/>
          <p:cNvPicPr/>
          <p:nvPr/>
        </p:nvPicPr>
        <p:blipFill>
          <a:blip r:embed="rId5"/>
          <a:stretch>
            <a:fillRect/>
          </a:stretch>
        </p:blipFill>
        <p:spPr>
          <a:xfrm>
            <a:off x="609600" y="1552575"/>
            <a:ext cx="10972800" cy="9525"/>
          </a:xfrm>
          <a:prstGeom prst="rect">
            <a:avLst/>
          </a:prstGeom>
        </p:spPr>
      </p:pic>
      <p:pic>
        <p:nvPicPr>
          <p:cNvPr id="79" name="vedas_media_0_5"/>
          <p:cNvPicPr/>
          <p:nvPr/>
        </p:nvPicPr>
        <p:blipFill>
          <a:blip r:embed="rId6"/>
          <a:stretch>
            <a:fillRect/>
          </a:stretch>
        </p:blipFill>
        <p:spPr>
          <a:xfrm>
            <a:off x="571500" y="1714500"/>
            <a:ext cx="438150" cy="438150"/>
          </a:xfrm>
          <a:prstGeom prst="rect">
            <a:avLst/>
          </a:prstGeom>
        </p:spPr>
      </p:pic>
      <p:sp>
        <p:nvSpPr>
          <p:cNvPr id="17" name="tb_3"/>
          <p:cNvSpPr txBox="1"/>
          <p:nvPr/>
        </p:nvSpPr>
        <p:spPr>
          <a:xfrm>
            <a:off x="609480" y="1752480"/>
            <a:ext cx="369000" cy="39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440"/>
              </a:lnSpc>
            </a:pPr>
            <a:r>
              <a:rPr lang="en-US" sz="120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18" name="tb_4"/>
          <p:cNvSpPr txBox="1"/>
          <p:nvPr/>
        </p:nvSpPr>
        <p:spPr>
          <a:xfrm>
            <a:off x="1143000" y="1752480"/>
            <a:ext cx="12526920" cy="20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350"/>
              </a:lnSpc>
            </a:pPr>
            <a:r>
              <a:rPr lang="en-US" sz="112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Course &amp; Case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19" name="tb_5"/>
          <p:cNvSpPr txBox="1"/>
          <p:nvPr/>
        </p:nvSpPr>
        <p:spPr>
          <a:xfrm>
            <a:off x="1143000" y="1942920"/>
            <a:ext cx="12526920" cy="23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520"/>
              </a:lnSpc>
            </a:pPr>
            <a:r>
              <a:rPr lang="en-US" sz="1050" b="1" u="none" strike="noStrike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Course:</a:t>
            </a:r>
            <a:r>
              <a:rPr lang="en-US" sz="105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Advanced Information Systems Development · </a:t>
            </a:r>
            <a:r>
              <a:rPr lang="en-US" sz="1050" b="1" u="none" strike="noStrike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Case:</a:t>
            </a:r>
            <a:r>
              <a:rPr lang="en-US" sz="105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Hospital Patient Referral, Treatment and Administration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80" name="vedas_media_0_6"/>
          <p:cNvPicPr/>
          <p:nvPr/>
        </p:nvPicPr>
        <p:blipFill>
          <a:blip r:embed="rId6"/>
          <a:stretch>
            <a:fillRect/>
          </a:stretch>
        </p:blipFill>
        <p:spPr>
          <a:xfrm>
            <a:off x="571500" y="2677716"/>
            <a:ext cx="438150" cy="438150"/>
          </a:xfrm>
          <a:prstGeom prst="rect">
            <a:avLst/>
          </a:prstGeom>
        </p:spPr>
      </p:pic>
      <p:sp>
        <p:nvSpPr>
          <p:cNvPr id="21" name="tb_6"/>
          <p:cNvSpPr txBox="1"/>
          <p:nvPr/>
        </p:nvSpPr>
        <p:spPr>
          <a:xfrm>
            <a:off x="609480" y="2715480"/>
            <a:ext cx="369000" cy="39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440"/>
              </a:lnSpc>
            </a:pPr>
            <a:r>
              <a:rPr lang="en-US" sz="120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2" name="tb_7"/>
          <p:cNvSpPr txBox="1"/>
          <p:nvPr/>
        </p:nvSpPr>
        <p:spPr>
          <a:xfrm>
            <a:off x="1143000" y="2715480"/>
            <a:ext cx="9128520" cy="20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350"/>
              </a:lnSpc>
            </a:pPr>
            <a:r>
              <a:rPr lang="en-US" sz="112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Deliverable Form — One BPMN Collaboration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3" name="tb_8"/>
          <p:cNvSpPr txBox="1"/>
          <p:nvPr/>
        </p:nvSpPr>
        <p:spPr>
          <a:xfrm>
            <a:off x="1143000" y="2906280"/>
            <a:ext cx="9128520" cy="23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520"/>
              </a:lnSpc>
            </a:pPr>
            <a:r>
              <a:rPr lang="en-US" sz="105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1 BPMN collaboration with </a:t>
            </a:r>
            <a:r>
              <a:rPr lang="en-US" sz="105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14 participants</a:t>
            </a:r>
            <a:r>
              <a:rPr lang="en-US" sz="105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— 9 hospital pools + 5 external parties (4 external suppliers + patient)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81" name="vedas_media_0_7"/>
          <p:cNvPicPr/>
          <p:nvPr/>
        </p:nvPicPr>
        <p:blipFill>
          <a:blip r:embed="rId7"/>
          <a:stretch>
            <a:fillRect/>
          </a:stretch>
        </p:blipFill>
        <p:spPr>
          <a:xfrm>
            <a:off x="8883551" y="2677716"/>
            <a:ext cx="1306116" cy="571500"/>
          </a:xfrm>
          <a:prstGeom prst="rect">
            <a:avLst/>
          </a:prstGeom>
        </p:spPr>
      </p:pic>
      <p:sp>
        <p:nvSpPr>
          <p:cNvPr id="25" name="tb_9"/>
          <p:cNvSpPr txBox="1"/>
          <p:nvPr/>
        </p:nvSpPr>
        <p:spPr>
          <a:xfrm>
            <a:off x="9064440" y="2791800"/>
            <a:ext cx="962640" cy="24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650"/>
              </a:lnSpc>
            </a:pPr>
            <a:r>
              <a:rPr lang="en-US" sz="15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6" name="tb_10"/>
          <p:cNvSpPr txBox="1"/>
          <p:nvPr/>
        </p:nvSpPr>
        <p:spPr>
          <a:xfrm>
            <a:off x="9064440" y="3020400"/>
            <a:ext cx="1071720" cy="15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945"/>
              </a:lnSpc>
            </a:pPr>
            <a:r>
              <a:rPr lang="en-US" sz="790" b="0" u="none" strike="noStrike" spc="60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HOSPITAL POOLS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82" name="vedas_media_0_8"/>
          <p:cNvPicPr/>
          <p:nvPr/>
        </p:nvPicPr>
        <p:blipFill>
          <a:blip r:embed="rId8"/>
          <a:stretch>
            <a:fillRect/>
          </a:stretch>
        </p:blipFill>
        <p:spPr>
          <a:xfrm>
            <a:off x="10208716" y="2677716"/>
            <a:ext cx="1411784" cy="571500"/>
          </a:xfrm>
          <a:prstGeom prst="rect">
            <a:avLst/>
          </a:prstGeom>
        </p:spPr>
      </p:pic>
      <p:sp>
        <p:nvSpPr>
          <p:cNvPr id="28" name="tb_11"/>
          <p:cNvSpPr txBox="1"/>
          <p:nvPr/>
        </p:nvSpPr>
        <p:spPr>
          <a:xfrm>
            <a:off x="10389600" y="2791800"/>
            <a:ext cx="1070640" cy="24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650"/>
              </a:lnSpc>
            </a:pPr>
            <a:r>
              <a:rPr lang="en-US" sz="15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4+1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9" name="tb_12"/>
          <p:cNvSpPr txBox="1"/>
          <p:nvPr/>
        </p:nvSpPr>
        <p:spPr>
          <a:xfrm>
            <a:off x="10389600" y="3020400"/>
            <a:ext cx="1194840" cy="15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945"/>
              </a:lnSpc>
            </a:pPr>
            <a:r>
              <a:rPr lang="en-US" sz="790" b="0" u="none" strike="noStrike" spc="60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EXTERNAL PARTIES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83" name="vedas_media_0_9"/>
          <p:cNvPicPr/>
          <p:nvPr/>
        </p:nvPicPr>
        <p:blipFill>
          <a:blip r:embed="rId6"/>
          <a:stretch>
            <a:fillRect/>
          </a:stretch>
        </p:blipFill>
        <p:spPr>
          <a:xfrm>
            <a:off x="571500" y="3742879"/>
            <a:ext cx="438150" cy="438150"/>
          </a:xfrm>
          <a:prstGeom prst="rect">
            <a:avLst/>
          </a:prstGeom>
        </p:spPr>
      </p:pic>
      <p:sp>
        <p:nvSpPr>
          <p:cNvPr id="31" name="tb_13"/>
          <p:cNvSpPr txBox="1"/>
          <p:nvPr/>
        </p:nvSpPr>
        <p:spPr>
          <a:xfrm>
            <a:off x="609480" y="3780720"/>
            <a:ext cx="369000" cy="39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440"/>
              </a:lnSpc>
            </a:pPr>
            <a:r>
              <a:rPr lang="en-US" sz="120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2" name="tb_14"/>
          <p:cNvSpPr txBox="1"/>
          <p:nvPr/>
        </p:nvSpPr>
        <p:spPr>
          <a:xfrm>
            <a:off x="1143000" y="3780720"/>
            <a:ext cx="9318600" cy="20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350"/>
              </a:lnSpc>
            </a:pPr>
            <a:r>
              <a:rPr lang="en-US" sz="112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Deliverables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3" name="tb_15"/>
          <p:cNvSpPr txBox="1"/>
          <p:nvPr/>
        </p:nvSpPr>
        <p:spPr>
          <a:xfrm>
            <a:off x="1143000" y="3990240"/>
            <a:ext cx="722880" cy="18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520"/>
              </a:lnSpc>
            </a:pPr>
            <a:r>
              <a:rPr lang="en-US" sz="105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Runnable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84" name="vedas_media_0_10"/>
          <p:cNvPicPr/>
          <p:nvPr/>
        </p:nvPicPr>
        <p:blipFill>
          <a:blip r:embed="rId9"/>
          <a:stretch>
            <a:fillRect/>
          </a:stretch>
        </p:blipFill>
        <p:spPr>
          <a:xfrm>
            <a:off x="1745754" y="4000054"/>
            <a:ext cx="487114" cy="161925"/>
          </a:xfrm>
          <a:prstGeom prst="rect">
            <a:avLst/>
          </a:prstGeom>
        </p:spPr>
      </p:pic>
      <p:sp>
        <p:nvSpPr>
          <p:cNvPr id="35" name="tb_16"/>
          <p:cNvSpPr txBox="1"/>
          <p:nvPr/>
        </p:nvSpPr>
        <p:spPr>
          <a:xfrm>
            <a:off x="1745640" y="3999960"/>
            <a:ext cx="584280" cy="197640"/>
          </a:xfrm>
          <a:prstGeom prst="rect">
            <a:avLst/>
          </a:prstGeom>
          <a:noFill/>
          <a:ln w="0">
            <a:noFill/>
          </a:ln>
        </p:spPr>
        <p:txBody>
          <a:bodyPr lIns="47520" tIns="0" rIns="47520" bIns="0" anchor="ctr">
            <a:noAutofit/>
          </a:bodyPr>
          <a:p>
            <a:pPr>
              <a:lnSpc>
                <a:spcPts val="1410"/>
              </a:lnSpc>
            </a:pPr>
            <a:r>
              <a:rPr lang="en-US" sz="980" b="0" u="none" strike="noStrike">
                <a:solidFill>
                  <a:srgbClr val="1F3A5F"/>
                </a:solidFill>
                <a:effectLst/>
                <a:uFillTx/>
                <a:latin typeface="Consolas"/>
                <a:ea typeface="Consolas"/>
              </a:rPr>
              <a:t>.bpmn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6" name="tb_17"/>
          <p:cNvSpPr txBox="1"/>
          <p:nvPr/>
        </p:nvSpPr>
        <p:spPr>
          <a:xfrm>
            <a:off x="2232720" y="3990240"/>
            <a:ext cx="7325280" cy="18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520"/>
              </a:lnSpc>
            </a:pPr>
            <a:r>
              <a:rPr lang="en-US" sz="105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model + deployment config · 36 Camunda Forms · 36 Java external workers · test plan &amp; evidence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85" name="vedas_media_0_11"/>
          <p:cNvPicPr/>
          <p:nvPr/>
        </p:nvPicPr>
        <p:blipFill>
          <a:blip r:embed="rId10"/>
          <a:stretch>
            <a:fillRect/>
          </a:stretch>
        </p:blipFill>
        <p:spPr>
          <a:xfrm>
            <a:off x="9042053" y="3742879"/>
            <a:ext cx="1346448" cy="571500"/>
          </a:xfrm>
          <a:prstGeom prst="rect">
            <a:avLst/>
          </a:prstGeom>
        </p:spPr>
      </p:pic>
      <p:sp>
        <p:nvSpPr>
          <p:cNvPr id="38" name="tb_18"/>
          <p:cNvSpPr txBox="1"/>
          <p:nvPr/>
        </p:nvSpPr>
        <p:spPr>
          <a:xfrm>
            <a:off x="9222840" y="3857040"/>
            <a:ext cx="1003680" cy="24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650"/>
              </a:lnSpc>
            </a:pPr>
            <a:r>
              <a:rPr lang="en-US" sz="150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36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9" name="tb_19"/>
          <p:cNvSpPr txBox="1"/>
          <p:nvPr/>
        </p:nvSpPr>
        <p:spPr>
          <a:xfrm>
            <a:off x="9222840" y="4085640"/>
            <a:ext cx="1104840" cy="15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945"/>
              </a:lnSpc>
            </a:pPr>
            <a:r>
              <a:rPr lang="en-US" sz="790" b="0" u="none" strike="noStrike" spc="60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CAMUNDA FORMS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86" name="vedas_media_0_12"/>
          <p:cNvPicPr/>
          <p:nvPr/>
        </p:nvPicPr>
        <p:blipFill>
          <a:blip r:embed="rId11"/>
          <a:stretch>
            <a:fillRect/>
          </a:stretch>
        </p:blipFill>
        <p:spPr>
          <a:xfrm>
            <a:off x="10407551" y="3742879"/>
            <a:ext cx="1212949" cy="571500"/>
          </a:xfrm>
          <a:prstGeom prst="rect">
            <a:avLst/>
          </a:prstGeom>
        </p:spPr>
      </p:pic>
      <p:sp>
        <p:nvSpPr>
          <p:cNvPr id="41" name="tb_20"/>
          <p:cNvSpPr txBox="1"/>
          <p:nvPr/>
        </p:nvSpPr>
        <p:spPr>
          <a:xfrm>
            <a:off x="10588320" y="3857040"/>
            <a:ext cx="867600" cy="24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650"/>
              </a:lnSpc>
            </a:pPr>
            <a:r>
              <a:rPr lang="en-US" sz="150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36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2" name="tb_21"/>
          <p:cNvSpPr txBox="1"/>
          <p:nvPr/>
        </p:nvSpPr>
        <p:spPr>
          <a:xfrm>
            <a:off x="10588320" y="4085640"/>
            <a:ext cx="960840" cy="15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945"/>
              </a:lnSpc>
            </a:pPr>
            <a:r>
              <a:rPr lang="en-US" sz="790" b="0" u="none" strike="noStrike" spc="60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JAVA WORKERS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87" name="vedas_media_0_13"/>
          <p:cNvPicPr/>
          <p:nvPr/>
        </p:nvPicPr>
        <p:blipFill>
          <a:blip r:embed="rId6"/>
          <a:stretch>
            <a:fillRect/>
          </a:stretch>
        </p:blipFill>
        <p:spPr>
          <a:xfrm>
            <a:off x="571500" y="4808041"/>
            <a:ext cx="438150" cy="438150"/>
          </a:xfrm>
          <a:prstGeom prst="rect">
            <a:avLst/>
          </a:prstGeom>
        </p:spPr>
      </p:pic>
      <p:sp>
        <p:nvSpPr>
          <p:cNvPr id="44" name="tb_22"/>
          <p:cNvSpPr txBox="1"/>
          <p:nvPr/>
        </p:nvSpPr>
        <p:spPr>
          <a:xfrm>
            <a:off x="609480" y="4845960"/>
            <a:ext cx="369000" cy="39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440"/>
              </a:lnSpc>
            </a:pPr>
            <a:r>
              <a:rPr lang="en-US" sz="120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5" name="tb_23"/>
          <p:cNvSpPr txBox="1"/>
          <p:nvPr/>
        </p:nvSpPr>
        <p:spPr>
          <a:xfrm>
            <a:off x="1143000" y="4845960"/>
            <a:ext cx="12526920" cy="20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350"/>
              </a:lnSpc>
            </a:pPr>
            <a:r>
              <a:rPr lang="en-US" sz="112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Runtime Platform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6" name="tb_24"/>
          <p:cNvSpPr txBox="1"/>
          <p:nvPr/>
        </p:nvSpPr>
        <p:spPr>
          <a:xfrm>
            <a:off x="1143000" y="5055480"/>
            <a:ext cx="1294920" cy="18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520"/>
              </a:lnSpc>
            </a:pPr>
            <a:r>
              <a:rPr lang="en-US" sz="105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Camunda 8 (local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88" name="vedas_media_0_14"/>
          <p:cNvPicPr/>
          <p:nvPr/>
        </p:nvPicPr>
        <p:blipFill>
          <a:blip r:embed="rId12"/>
          <a:stretch>
            <a:fillRect/>
          </a:stretch>
        </p:blipFill>
        <p:spPr>
          <a:xfrm>
            <a:off x="2222599" y="5065216"/>
            <a:ext cx="1530846" cy="161925"/>
          </a:xfrm>
          <a:prstGeom prst="rect">
            <a:avLst/>
          </a:prstGeom>
        </p:spPr>
      </p:pic>
      <p:sp>
        <p:nvSpPr>
          <p:cNvPr id="48" name="tb_25"/>
          <p:cNvSpPr txBox="1"/>
          <p:nvPr/>
        </p:nvSpPr>
        <p:spPr>
          <a:xfrm>
            <a:off x="2222280" y="5065200"/>
            <a:ext cx="1836720" cy="197640"/>
          </a:xfrm>
          <a:prstGeom prst="rect">
            <a:avLst/>
          </a:prstGeom>
          <a:noFill/>
          <a:ln w="0">
            <a:noFill/>
          </a:ln>
        </p:spPr>
        <p:txBody>
          <a:bodyPr lIns="47520" tIns="0" rIns="47520" bIns="0" anchor="ctr">
            <a:noAutofit/>
          </a:bodyPr>
          <a:p>
            <a:pPr>
              <a:lnSpc>
                <a:spcPts val="1410"/>
              </a:lnSpc>
            </a:pPr>
            <a:r>
              <a:rPr lang="en-US" sz="980" b="0" u="none" strike="noStrike">
                <a:solidFill>
                  <a:srgbClr val="1F3A5F"/>
                </a:solidFill>
                <a:effectLst/>
                <a:uFillTx/>
                <a:latin typeface="Consolas"/>
                <a:ea typeface="Consolas"/>
              </a:rPr>
              <a:t>c8run 8.10.0-alpha5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9" name="tb_26"/>
          <p:cNvSpPr txBox="1"/>
          <p:nvPr/>
        </p:nvSpPr>
        <p:spPr>
          <a:xfrm>
            <a:off x="3753360" y="5055480"/>
            <a:ext cx="1636200" cy="18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520"/>
              </a:lnSpc>
            </a:pPr>
            <a:r>
              <a:rPr lang="en-US" sz="105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) · Camunda Modeler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89" name="vedas_media_0_15"/>
          <p:cNvPicPr/>
          <p:nvPr/>
        </p:nvPicPr>
        <p:blipFill>
          <a:blip r:embed="rId13"/>
          <a:stretch>
            <a:fillRect/>
          </a:stretch>
        </p:blipFill>
        <p:spPr>
          <a:xfrm>
            <a:off x="5117157" y="5065216"/>
            <a:ext cx="561677" cy="161925"/>
          </a:xfrm>
          <a:prstGeom prst="rect">
            <a:avLst/>
          </a:prstGeom>
        </p:spPr>
      </p:pic>
      <p:sp>
        <p:nvSpPr>
          <p:cNvPr id="51" name="tb_27"/>
          <p:cNvSpPr txBox="1"/>
          <p:nvPr/>
        </p:nvSpPr>
        <p:spPr>
          <a:xfrm>
            <a:off x="5117040" y="5065200"/>
            <a:ext cx="673920" cy="197640"/>
          </a:xfrm>
          <a:prstGeom prst="rect">
            <a:avLst/>
          </a:prstGeom>
          <a:noFill/>
          <a:ln w="0">
            <a:noFill/>
          </a:ln>
        </p:spPr>
        <p:txBody>
          <a:bodyPr lIns="47520" tIns="0" rIns="47520" bIns="0" anchor="ctr">
            <a:noAutofit/>
          </a:bodyPr>
          <a:p>
            <a:pPr>
              <a:lnSpc>
                <a:spcPts val="1410"/>
              </a:lnSpc>
            </a:pPr>
            <a:r>
              <a:rPr lang="en-US" sz="980" b="0" u="none" strike="noStrike">
                <a:solidFill>
                  <a:srgbClr val="1F3A5F"/>
                </a:solidFill>
                <a:effectLst/>
                <a:uFillTx/>
                <a:latin typeface="Consolas"/>
                <a:ea typeface="Consolas"/>
              </a:rPr>
              <a:t>5.51.0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52" name="tb_28"/>
          <p:cNvSpPr txBox="1"/>
          <p:nvPr/>
        </p:nvSpPr>
        <p:spPr>
          <a:xfrm>
            <a:off x="5678640" y="5055480"/>
            <a:ext cx="1060920" cy="18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520"/>
              </a:lnSpc>
            </a:pPr>
            <a:r>
              <a:rPr lang="en-US" sz="105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· workers 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90" name="vedas_media_0_16"/>
          <p:cNvPicPr/>
          <p:nvPr/>
        </p:nvPicPr>
        <p:blipFill>
          <a:blip r:embed="rId14"/>
          <a:stretch>
            <a:fillRect/>
          </a:stretch>
        </p:blipFill>
        <p:spPr>
          <a:xfrm>
            <a:off x="6563023" y="5065216"/>
            <a:ext cx="1828949" cy="161925"/>
          </a:xfrm>
          <a:prstGeom prst="rect">
            <a:avLst/>
          </a:prstGeom>
        </p:spPr>
      </p:pic>
      <p:sp>
        <p:nvSpPr>
          <p:cNvPr id="54" name="tb_29"/>
          <p:cNvSpPr txBox="1"/>
          <p:nvPr/>
        </p:nvSpPr>
        <p:spPr>
          <a:xfrm>
            <a:off x="6562800" y="5065200"/>
            <a:ext cx="2194560" cy="197640"/>
          </a:xfrm>
          <a:prstGeom prst="rect">
            <a:avLst/>
          </a:prstGeom>
          <a:noFill/>
          <a:ln w="0">
            <a:noFill/>
          </a:ln>
        </p:spPr>
        <p:txBody>
          <a:bodyPr lIns="47520" tIns="0" rIns="47520" bIns="0" anchor="ctr">
            <a:noAutofit/>
          </a:bodyPr>
          <a:p>
            <a:pPr>
              <a:lnSpc>
                <a:spcPts val="1410"/>
              </a:lnSpc>
            </a:pPr>
            <a:r>
              <a:rPr lang="en-US" sz="980" b="0" u="none" strike="noStrike">
                <a:solidFill>
                  <a:srgbClr val="1F3A5F"/>
                </a:solidFill>
                <a:effectLst/>
                <a:uFillTx/>
                <a:latin typeface="Consolas"/>
                <a:ea typeface="Consolas"/>
              </a:rPr>
              <a:t>zeebe-client-java 8.9.0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55" name="tb_30"/>
          <p:cNvSpPr txBox="1"/>
          <p:nvPr/>
        </p:nvSpPr>
        <p:spPr>
          <a:xfrm>
            <a:off x="8391960" y="5055480"/>
            <a:ext cx="141840" cy="18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520"/>
              </a:lnSpc>
            </a:pPr>
            <a:r>
              <a:rPr lang="en-US" sz="105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/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91" name="vedas_media_0_17"/>
          <p:cNvPicPr/>
          <p:nvPr/>
        </p:nvPicPr>
        <p:blipFill>
          <a:blip r:embed="rId15"/>
          <a:stretch>
            <a:fillRect/>
          </a:stretch>
        </p:blipFill>
        <p:spPr>
          <a:xfrm>
            <a:off x="8510588" y="5065216"/>
            <a:ext cx="561677" cy="161925"/>
          </a:xfrm>
          <a:prstGeom prst="rect">
            <a:avLst/>
          </a:prstGeom>
        </p:spPr>
      </p:pic>
      <p:sp>
        <p:nvSpPr>
          <p:cNvPr id="57" name="tb_31"/>
          <p:cNvSpPr txBox="1"/>
          <p:nvPr/>
        </p:nvSpPr>
        <p:spPr>
          <a:xfrm>
            <a:off x="8510400" y="5065200"/>
            <a:ext cx="673920" cy="197640"/>
          </a:xfrm>
          <a:prstGeom prst="rect">
            <a:avLst/>
          </a:prstGeom>
          <a:noFill/>
          <a:ln w="0">
            <a:noFill/>
          </a:ln>
        </p:spPr>
        <p:txBody>
          <a:bodyPr lIns="47520" tIns="0" rIns="47520" bIns="0" anchor="ctr">
            <a:noAutofit/>
          </a:bodyPr>
          <a:p>
            <a:pPr>
              <a:lnSpc>
                <a:spcPts val="1410"/>
              </a:lnSpc>
            </a:pPr>
            <a:r>
              <a:rPr lang="en-US" sz="980" b="0" u="none" strike="noStrike">
                <a:solidFill>
                  <a:srgbClr val="1F3A5F"/>
                </a:solidFill>
                <a:effectLst/>
                <a:uFillTx/>
                <a:latin typeface="Consolas"/>
                <a:ea typeface="Consolas"/>
              </a:rPr>
              <a:t>JDK 21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92" name="vedas_media_0_18"/>
          <p:cNvPicPr/>
          <p:nvPr/>
        </p:nvPicPr>
        <p:blipFill>
          <a:blip r:embed="rId16"/>
          <a:stretch>
            <a:fillRect/>
          </a:stretch>
        </p:blipFill>
        <p:spPr>
          <a:xfrm>
            <a:off x="571500" y="5776466"/>
            <a:ext cx="438150" cy="438150"/>
          </a:xfrm>
          <a:prstGeom prst="rect">
            <a:avLst/>
          </a:prstGeom>
        </p:spPr>
      </p:pic>
      <p:sp>
        <p:nvSpPr>
          <p:cNvPr id="59" name="tb_32"/>
          <p:cNvSpPr txBox="1"/>
          <p:nvPr/>
        </p:nvSpPr>
        <p:spPr>
          <a:xfrm>
            <a:off x="609480" y="5814360"/>
            <a:ext cx="369000" cy="39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440"/>
              </a:lnSpc>
            </a:pPr>
            <a:r>
              <a:rPr lang="en-US" sz="120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60" name="tb_33"/>
          <p:cNvSpPr txBox="1"/>
          <p:nvPr/>
        </p:nvSpPr>
        <p:spPr>
          <a:xfrm>
            <a:off x="1143000" y="5814360"/>
            <a:ext cx="9051840" cy="20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350"/>
              </a:lnSpc>
            </a:pPr>
            <a:r>
              <a:rPr lang="en-US" sz="112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Verification Result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61" name="tb_34"/>
          <p:cNvSpPr txBox="1"/>
          <p:nvPr/>
        </p:nvSpPr>
        <p:spPr>
          <a:xfrm>
            <a:off x="1143000" y="6004800"/>
            <a:ext cx="9051840" cy="23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520"/>
              </a:lnSpc>
            </a:pPr>
            <a:r>
              <a:rPr lang="en-US" sz="105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9 process definitions + 36 forms deployment accepted · all script paths </a:t>
            </a:r>
            <a:r>
              <a:rPr lang="en-US" sz="1050" b="1" u="none" strike="noStrike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incidents: none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93" name="vedas_media_0_19"/>
          <p:cNvPicPr/>
          <p:nvPr/>
        </p:nvPicPr>
        <p:blipFill>
          <a:blip r:embed="rId17"/>
          <a:stretch>
            <a:fillRect/>
          </a:stretch>
        </p:blipFill>
        <p:spPr>
          <a:xfrm>
            <a:off x="8819852" y="5776466"/>
            <a:ext cx="1404938" cy="547688"/>
          </a:xfrm>
          <a:prstGeom prst="rect">
            <a:avLst/>
          </a:prstGeom>
        </p:spPr>
      </p:pic>
      <p:sp>
        <p:nvSpPr>
          <p:cNvPr id="63" name="tb_35"/>
          <p:cNvSpPr txBox="1"/>
          <p:nvPr/>
        </p:nvSpPr>
        <p:spPr>
          <a:xfrm>
            <a:off x="9000720" y="5890680"/>
            <a:ext cx="1063440" cy="221400"/>
          </a:xfrm>
          <a:prstGeom prst="rect">
            <a:avLst/>
          </a:prstGeom>
          <a:noFill/>
          <a:ln w="0">
            <a:noFill/>
          </a:ln>
        </p:spPr>
        <p:txBody>
          <a:bodyPr lIns="0" tIns="28440" rIns="0" bIns="0" anchor="ctr">
            <a:noAutofit/>
          </a:bodyPr>
          <a:p>
            <a:pPr algn="ctr">
              <a:lnSpc>
                <a:spcPts val="1235"/>
              </a:lnSpc>
            </a:pPr>
            <a:r>
              <a:rPr lang="en-US" sz="1120" b="1" u="none" strike="noStrike">
                <a:solidFill>
                  <a:srgbClr val="3E7A3A"/>
                </a:solidFill>
                <a:effectLst/>
                <a:uFillTx/>
                <a:latin typeface="Segoe UI"/>
                <a:ea typeface="Segoe UI"/>
              </a:rPr>
              <a:t>✓ Deployed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64" name="tb_36"/>
          <p:cNvSpPr txBox="1"/>
          <p:nvPr/>
        </p:nvSpPr>
        <p:spPr>
          <a:xfrm>
            <a:off x="9000720" y="6095520"/>
            <a:ext cx="1195920" cy="15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945"/>
              </a:lnSpc>
            </a:pPr>
            <a:r>
              <a:rPr lang="en-US" sz="790" b="0" u="none" strike="noStrike" spc="60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9 DEFS · 36 FORMS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94" name="vedas_media_0_20"/>
          <p:cNvPicPr/>
          <p:nvPr/>
        </p:nvPicPr>
        <p:blipFill>
          <a:blip r:embed="rId18"/>
          <a:stretch>
            <a:fillRect/>
          </a:stretch>
        </p:blipFill>
        <p:spPr>
          <a:xfrm>
            <a:off x="10243840" y="5776466"/>
            <a:ext cx="1376660" cy="547688"/>
          </a:xfrm>
          <a:prstGeom prst="rect">
            <a:avLst/>
          </a:prstGeom>
        </p:spPr>
      </p:pic>
      <p:sp>
        <p:nvSpPr>
          <p:cNvPr id="66" name="tb_37"/>
          <p:cNvSpPr txBox="1"/>
          <p:nvPr/>
        </p:nvSpPr>
        <p:spPr>
          <a:xfrm>
            <a:off x="10424520" y="5890680"/>
            <a:ext cx="1034640" cy="221400"/>
          </a:xfrm>
          <a:prstGeom prst="rect">
            <a:avLst/>
          </a:prstGeom>
          <a:noFill/>
          <a:ln w="0">
            <a:noFill/>
          </a:ln>
        </p:spPr>
        <p:txBody>
          <a:bodyPr lIns="0" tIns="28440" rIns="0" bIns="0" anchor="ctr">
            <a:noAutofit/>
          </a:bodyPr>
          <a:p>
            <a:pPr algn="ctr">
              <a:lnSpc>
                <a:spcPts val="1235"/>
              </a:lnSpc>
            </a:pPr>
            <a:r>
              <a:rPr lang="en-US" sz="1120" b="1" u="none" strike="noStrike">
                <a:solidFill>
                  <a:srgbClr val="3E7A3A"/>
                </a:solidFill>
                <a:effectLst/>
                <a:uFillTx/>
                <a:latin typeface="Segoe UI"/>
                <a:ea typeface="Segoe UI"/>
              </a:rPr>
              <a:t>✓ 0 incidents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67" name="tb_38"/>
          <p:cNvSpPr txBox="1"/>
          <p:nvPr/>
        </p:nvSpPr>
        <p:spPr>
          <a:xfrm>
            <a:off x="10424520" y="6095520"/>
            <a:ext cx="1159200" cy="15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945"/>
              </a:lnSpc>
            </a:pPr>
            <a:r>
              <a:rPr lang="en-US" sz="790" b="0" u="none" strike="noStrike" spc="60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ALL SCRIPT PATHS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95" name="vedas_media_0_21"/>
          <p:cNvPicPr/>
          <p:nvPr/>
        </p:nvPicPr>
        <p:blipFill>
          <a:blip r:embed="rId19"/>
          <a:stretch>
            <a:fillRect/>
          </a:stretch>
        </p:blipFill>
        <p:spPr>
          <a:xfrm>
            <a:off x="1219200" y="6419850"/>
            <a:ext cx="9753600" cy="438150"/>
          </a:xfrm>
          <a:prstGeom prst="rect">
            <a:avLst/>
          </a:prstGeom>
        </p:spPr>
      </p:pic>
      <p:sp>
        <p:nvSpPr>
          <p:cNvPr id="72" name="Rectangle 72"/>
          <p:cNvSpPr/>
          <p:nvPr/>
        </p:nvSpPr>
        <p:spPr>
          <a:xfrm>
            <a:off x="1235869" y="6560344"/>
            <a:ext cx="100012" cy="100012"/>
          </a:xfrm>
          <a:prstGeom prst="roundRect">
            <a:avLst>
              <a:gd name="adj" fmla="val 11111"/>
            </a:avLst>
          </a:prstGeom>
          <a:noFill/>
          <a:ln w="11112" cap="rnd">
            <a:solidFill>
              <a:srgbClr val="1F3A5F"/>
            </a:solidFill>
            <a:round/>
          </a:ln>
        </p:spPr>
      </p:sp>
      <p:sp>
        <p:nvSpPr>
          <p:cNvPr id="73" name="Freeform 73"/>
          <p:cNvSpPr/>
          <p:nvPr/>
        </p:nvSpPr>
        <p:spPr>
          <a:xfrm>
            <a:off x="1263650" y="6588125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0" y="22225"/>
                </a:moveTo>
                <a:lnTo>
                  <a:pt x="44450" y="22225"/>
                </a:lnTo>
                <a:moveTo>
                  <a:pt x="0" y="0"/>
                </a:moveTo>
                <a:lnTo>
                  <a:pt x="44450" y="0"/>
                </a:lnTo>
                <a:moveTo>
                  <a:pt x="0" y="44450"/>
                </a:moveTo>
                <a:lnTo>
                  <a:pt x="27781" y="44450"/>
                </a:lnTo>
              </a:path>
            </a:pathLst>
          </a:custGeom>
          <a:noFill/>
          <a:ln w="11112" cap="rnd">
            <a:solidFill>
              <a:srgbClr val="1F3A5F"/>
            </a:solidFill>
            <a:round/>
          </a:ln>
        </p:spPr>
      </p:sp>
      <p:sp>
        <p:nvSpPr>
          <p:cNvPr id="70" name="tb_39"/>
          <p:cNvSpPr txBox="1"/>
          <p:nvPr/>
        </p:nvSpPr>
        <p:spPr>
          <a:xfrm>
            <a:off x="1428480" y="6543360"/>
            <a:ext cx="4422600" cy="16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0" u="none" strike="noStrike">
                <a:solidFill>
                  <a:srgbClr val="8A93A0"/>
                </a:solidFill>
                <a:effectLst/>
                <a:uFillTx/>
                <a:latin typeface="Segoe UI"/>
                <a:ea typeface="Segoe UI"/>
              </a:rPr>
              <a:t>Advanced Information Systems Development · Hospital Patient Pathway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71" name="tb_40"/>
          <p:cNvSpPr txBox="1"/>
          <p:nvPr/>
        </p:nvSpPr>
        <p:spPr>
          <a:xfrm>
            <a:off x="10729800" y="6543360"/>
            <a:ext cx="290880" cy="17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125"/>
              </a:lnSpc>
            </a:pPr>
            <a:r>
              <a:rPr lang="en-US" sz="94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1</a:t>
            </a:r>
            <a:r>
              <a:rPr lang="en-US" sz="940" b="1" u="none" strike="noStrike">
                <a:solidFill>
                  <a:srgbClr val="5A6270"/>
                </a:solidFill>
                <a:effectLst/>
                <a:uFillTx/>
                <a:latin typeface="Segoe UI"/>
                <a:ea typeface="Segoe UI"/>
              </a:rPr>
              <a:t> / 6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vedas_media_1_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009650"/>
          </a:xfrm>
          <a:prstGeom prst="rect">
            <a:avLst/>
          </a:prstGeom>
        </p:spPr>
      </p:pic>
      <p:sp>
        <p:nvSpPr>
          <p:cNvPr id="74" name="tb_0"/>
          <p:cNvSpPr txBox="1"/>
          <p:nvPr/>
        </p:nvSpPr>
        <p:spPr>
          <a:xfrm>
            <a:off x="380880" y="228600"/>
            <a:ext cx="6800760" cy="19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35"/>
              </a:lnSpc>
            </a:pPr>
            <a:r>
              <a:rPr lang="en-US" sz="820" b="1" u="none" strike="noStrike" spc="147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HOSPITAL PATIENT PATHWAY V14 · BPMN COLLABORATION MODEL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75" name="tb_1"/>
          <p:cNvSpPr txBox="1"/>
          <p:nvPr/>
        </p:nvSpPr>
        <p:spPr>
          <a:xfrm>
            <a:off x="380880" y="423720"/>
            <a:ext cx="5510880" cy="44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3185"/>
              </a:lnSpc>
            </a:pPr>
            <a:r>
              <a:rPr lang="en-US" sz="255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Operational Diagram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76" name="vedas_native_shape_1_0"/>
          <p:cNvSpPr/>
          <p:nvPr/>
        </p:nvSpPr>
        <p:spPr>
          <a:xfrm>
            <a:off x="9173520" y="542880"/>
            <a:ext cx="2637000" cy="28548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77" name="tb_2"/>
          <p:cNvSpPr txBox="1"/>
          <p:nvPr/>
        </p:nvSpPr>
        <p:spPr>
          <a:xfrm>
            <a:off x="9173520" y="542880"/>
            <a:ext cx="2689560" cy="321480"/>
          </a:xfrm>
          <a:prstGeom prst="rect">
            <a:avLst/>
          </a:prstGeom>
          <a:noFill/>
          <a:ln w="0">
            <a:noFill/>
          </a:ln>
        </p:spPr>
        <p:txBody>
          <a:bodyPr lIns="114120" tIns="56880" rIns="114120" bIns="56880" anchor="ctr">
            <a:noAutofit/>
          </a:bodyPr>
          <a:p>
            <a:pPr>
              <a:lnSpc>
                <a:spcPts val="135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one diagram · executable · 14 pools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104" name="vedas_media_1_1"/>
          <p:cNvPicPr/>
          <p:nvPr/>
        </p:nvPicPr>
        <p:blipFill>
          <a:blip r:embed="rId2"/>
          <a:stretch>
            <a:fillRect/>
          </a:stretch>
        </p:blipFill>
        <p:spPr>
          <a:xfrm>
            <a:off x="285750" y="1066800"/>
            <a:ext cx="3048000" cy="5072062"/>
          </a:xfrm>
          <a:prstGeom prst="rect">
            <a:avLst/>
          </a:prstGeom>
        </p:spPr>
      </p:pic>
      <p:sp>
        <p:nvSpPr>
          <p:cNvPr id="79" name="tb_3"/>
          <p:cNvSpPr txBox="1"/>
          <p:nvPr/>
        </p:nvSpPr>
        <p:spPr>
          <a:xfrm>
            <a:off x="380880" y="6119640"/>
            <a:ext cx="2914200" cy="245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ts val="1180"/>
              </a:lnSpc>
            </a:pPr>
            <a:r>
              <a:rPr lang="en-US" sz="790" b="0" u="none" strike="noStrike">
                <a:solidFill>
                  <a:srgbClr val="6B7280"/>
                </a:solidFill>
                <a:effectLst/>
                <a:uFillTx/>
                <a:latin typeface="Consolas"/>
                <a:ea typeface="Consolas"/>
              </a:rPr>
              <a:t>hospital-patient-pathway-v14-overview.png · 910 × 2400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105" name="vedas_media_1_2"/>
          <p:cNvPicPr/>
          <p:nvPr/>
        </p:nvPicPr>
        <p:blipFill>
          <a:blip r:embed="rId3"/>
          <a:stretch>
            <a:fillRect/>
          </a:stretch>
        </p:blipFill>
        <p:spPr>
          <a:xfrm>
            <a:off x="3429000" y="1123950"/>
            <a:ext cx="8420100" cy="1036290"/>
          </a:xfrm>
          <a:prstGeom prst="rect">
            <a:avLst/>
          </a:prstGeom>
        </p:spPr>
      </p:pic>
      <p:sp>
        <p:nvSpPr>
          <p:cNvPr id="81" name="vedas_native_shape_1_1"/>
          <p:cNvSpPr/>
          <p:nvPr/>
        </p:nvSpPr>
        <p:spPr>
          <a:xfrm>
            <a:off x="3628800" y="1285560"/>
            <a:ext cx="285480" cy="28548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82" name="tb_4"/>
          <p:cNvSpPr txBox="1"/>
          <p:nvPr/>
        </p:nvSpPr>
        <p:spPr>
          <a:xfrm>
            <a:off x="3628800" y="1285560"/>
            <a:ext cx="29088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46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83" name="tb_5"/>
          <p:cNvSpPr txBox="1"/>
          <p:nvPr/>
        </p:nvSpPr>
        <p:spPr>
          <a:xfrm>
            <a:off x="4028760" y="1553400"/>
            <a:ext cx="5379840" cy="21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390"/>
              </a:lnSpc>
            </a:pP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A </a:t>
            </a:r>
            <a:r>
              <a:rPr lang="en-US" sz="101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single executable collaboration diagram</a:t>
            </a: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covering </a:t>
            </a:r>
            <a:r>
              <a:rPr lang="en-US" sz="101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14 pools</a:t>
            </a: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and </a:t>
            </a:r>
            <a:r>
              <a:rPr lang="en-US" sz="101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19 lanes</a:t>
            </a: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.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106" name="vedas_media_1_3"/>
          <p:cNvPicPr/>
          <p:nvPr/>
        </p:nvPicPr>
        <p:blipFill>
          <a:blip r:embed="rId4"/>
          <a:stretch>
            <a:fillRect/>
          </a:stretch>
        </p:blipFill>
        <p:spPr>
          <a:xfrm>
            <a:off x="3429000" y="2198340"/>
            <a:ext cx="8420100" cy="1036290"/>
          </a:xfrm>
          <a:prstGeom prst="rect">
            <a:avLst/>
          </a:prstGeom>
        </p:spPr>
      </p:pic>
      <p:sp>
        <p:nvSpPr>
          <p:cNvPr id="85" name="vedas_native_shape_1_2"/>
          <p:cNvSpPr/>
          <p:nvPr/>
        </p:nvSpPr>
        <p:spPr>
          <a:xfrm>
            <a:off x="3628800" y="2360160"/>
            <a:ext cx="285480" cy="28548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86" name="tb_6"/>
          <p:cNvSpPr txBox="1"/>
          <p:nvPr/>
        </p:nvSpPr>
        <p:spPr>
          <a:xfrm>
            <a:off x="3628800" y="2360160"/>
            <a:ext cx="29088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46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87" name="tb_7"/>
          <p:cNvSpPr txBox="1"/>
          <p:nvPr/>
        </p:nvSpPr>
        <p:spPr>
          <a:xfrm>
            <a:off x="4028760" y="2628000"/>
            <a:ext cx="8738280" cy="21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390"/>
              </a:lnSpc>
            </a:pPr>
            <a:r>
              <a:rPr lang="en-US" sz="101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Scale: </a:t>
            </a:r>
            <a:r>
              <a:rPr lang="en-US" sz="101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381</a:t>
            </a: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shapes, </a:t>
            </a:r>
            <a:r>
              <a:rPr lang="en-US" sz="101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312</a:t>
            </a: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sequence flows, </a:t>
            </a:r>
            <a:r>
              <a:rPr lang="en-US" sz="101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20</a:t>
            </a: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message flows, </a:t>
            </a:r>
            <a:r>
              <a:rPr lang="en-US" sz="101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39</a:t>
            </a: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user tasks, </a:t>
            </a:r>
            <a:r>
              <a:rPr lang="en-US" sz="101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51</a:t>
            </a: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service tasks, </a:t>
            </a:r>
            <a:r>
              <a:rPr lang="en-US" sz="101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42</a:t>
            </a: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gateways, </a:t>
            </a:r>
            <a:r>
              <a:rPr lang="en-US" sz="101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18</a:t>
            </a: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boundary events.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107" name="vedas_media_1_4"/>
          <p:cNvPicPr/>
          <p:nvPr/>
        </p:nvPicPr>
        <p:blipFill>
          <a:blip r:embed="rId5"/>
          <a:stretch>
            <a:fillRect/>
          </a:stretch>
        </p:blipFill>
        <p:spPr>
          <a:xfrm>
            <a:off x="3429000" y="3272730"/>
            <a:ext cx="8420100" cy="1036290"/>
          </a:xfrm>
          <a:prstGeom prst="rect">
            <a:avLst/>
          </a:prstGeom>
        </p:spPr>
      </p:pic>
      <p:sp>
        <p:nvSpPr>
          <p:cNvPr id="89" name="vedas_native_shape_1_3"/>
          <p:cNvSpPr/>
          <p:nvPr/>
        </p:nvSpPr>
        <p:spPr>
          <a:xfrm>
            <a:off x="3628800" y="3434400"/>
            <a:ext cx="285480" cy="28548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90" name="tb_8"/>
          <p:cNvSpPr txBox="1"/>
          <p:nvPr/>
        </p:nvSpPr>
        <p:spPr>
          <a:xfrm>
            <a:off x="3628800" y="3434400"/>
            <a:ext cx="29088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46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91" name="tb_9"/>
          <p:cNvSpPr txBox="1"/>
          <p:nvPr/>
        </p:nvSpPr>
        <p:spPr>
          <a:xfrm>
            <a:off x="4028760" y="3613680"/>
            <a:ext cx="7772040" cy="35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390"/>
              </a:lnSpc>
            </a:pP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Every user task bound to a </a:t>
            </a:r>
            <a:r>
              <a:rPr lang="en-US" sz="900" b="0" u="none" strike="noStrike">
                <a:solidFill>
                  <a:srgbClr val="2E6FB7"/>
                </a:solidFill>
                <a:effectLst/>
                <a:uFillTx/>
                <a:latin typeface="Consolas"/>
                <a:ea typeface="Consolas"/>
              </a:rPr>
              <a:t>Camunda Form</a:t>
            </a: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+ candidate group; every service task bound to a </a:t>
            </a:r>
            <a:r>
              <a:rPr lang="en-US" sz="900" b="0" u="none" strike="noStrike">
                <a:solidFill>
                  <a:srgbClr val="2E6FB7"/>
                </a:solidFill>
                <a:effectLst/>
                <a:uFillTx/>
                <a:latin typeface="Consolas"/>
                <a:ea typeface="Consolas"/>
              </a:rPr>
              <a:t>job type</a:t>
            </a: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; every gateway with </a:t>
            </a:r>
            <a:r>
              <a:rPr lang="en-US" sz="900" b="0" u="none" strike="noStrike">
                <a:solidFill>
                  <a:srgbClr val="2E6FB7"/>
                </a:solidFill>
                <a:effectLst/>
                <a:uFillTx/>
                <a:latin typeface="Consolas"/>
                <a:ea typeface="Consolas"/>
              </a:rPr>
              <a:t>FEEL</a:t>
            </a: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conditions.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108" name="vedas_media_1_5"/>
          <p:cNvPicPr/>
          <p:nvPr/>
        </p:nvPicPr>
        <p:blipFill>
          <a:blip r:embed="rId6"/>
          <a:stretch>
            <a:fillRect/>
          </a:stretch>
        </p:blipFill>
        <p:spPr>
          <a:xfrm>
            <a:off x="3429000" y="4347121"/>
            <a:ext cx="8420100" cy="1036290"/>
          </a:xfrm>
          <a:prstGeom prst="rect">
            <a:avLst/>
          </a:prstGeom>
        </p:spPr>
      </p:pic>
      <p:sp>
        <p:nvSpPr>
          <p:cNvPr id="93" name="vedas_native_shape_1_4"/>
          <p:cNvSpPr/>
          <p:nvPr/>
        </p:nvSpPr>
        <p:spPr>
          <a:xfrm>
            <a:off x="3628800" y="4509000"/>
            <a:ext cx="285480" cy="28548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94" name="tb_10"/>
          <p:cNvSpPr txBox="1"/>
          <p:nvPr/>
        </p:nvSpPr>
        <p:spPr>
          <a:xfrm>
            <a:off x="3628800" y="4509000"/>
            <a:ext cx="29088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46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04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95" name="tb_11"/>
          <p:cNvSpPr txBox="1"/>
          <p:nvPr/>
        </p:nvSpPr>
        <p:spPr>
          <a:xfrm>
            <a:off x="4028760" y="4776480"/>
            <a:ext cx="8840160" cy="21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390"/>
              </a:lnSpc>
            </a:pP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Collaboration via </a:t>
            </a:r>
            <a:r>
              <a:rPr lang="en-US" sz="101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message handoffs</a:t>
            </a: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(throw event → message start / intermediate catch); </a:t>
            </a:r>
            <a:r>
              <a:rPr lang="en-US" sz="101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9 pools</a:t>
            </a: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start instances independently.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109" name="vedas_media_1_6"/>
          <p:cNvPicPr/>
          <p:nvPr/>
        </p:nvPicPr>
        <p:blipFill>
          <a:blip r:embed="rId4"/>
          <a:stretch>
            <a:fillRect/>
          </a:stretch>
        </p:blipFill>
        <p:spPr>
          <a:xfrm>
            <a:off x="3429000" y="5421511"/>
            <a:ext cx="8420100" cy="1036290"/>
          </a:xfrm>
          <a:prstGeom prst="rect">
            <a:avLst/>
          </a:prstGeom>
        </p:spPr>
      </p:pic>
      <p:sp>
        <p:nvSpPr>
          <p:cNvPr id="97" name="vedas_native_shape_1_5"/>
          <p:cNvSpPr/>
          <p:nvPr/>
        </p:nvSpPr>
        <p:spPr>
          <a:xfrm>
            <a:off x="3628800" y="5583240"/>
            <a:ext cx="285480" cy="28548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98" name="tb_12"/>
          <p:cNvSpPr txBox="1"/>
          <p:nvPr/>
        </p:nvSpPr>
        <p:spPr>
          <a:xfrm>
            <a:off x="3628800" y="5583240"/>
            <a:ext cx="290880" cy="32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460"/>
              </a:lnSpc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05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99" name="tb_13"/>
          <p:cNvSpPr txBox="1"/>
          <p:nvPr/>
        </p:nvSpPr>
        <p:spPr>
          <a:xfrm>
            <a:off x="4028760" y="5851080"/>
            <a:ext cx="7636320" cy="212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390"/>
              </a:lnSpc>
            </a:pPr>
            <a:r>
              <a:rPr lang="en-US" sz="101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Diagram-as-evidence: </a:t>
            </a:r>
            <a:r>
              <a:rPr lang="en-US" sz="900" b="0" u="none" strike="noStrike">
                <a:solidFill>
                  <a:srgbClr val="2E6FB7"/>
                </a:solidFill>
                <a:effectLst/>
                <a:uFillTx/>
                <a:latin typeface="Consolas"/>
                <a:ea typeface="Consolas"/>
              </a:rPr>
              <a:t>diagram/sections/</a:t>
            </a:r>
            <a:r>
              <a:rPr lang="en-US" sz="101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provides one-pool-per-page full-size section renders for teaching.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110" name="vedas_media_1_7"/>
          <p:cNvPicPr/>
          <p:nvPr/>
        </p:nvPicPr>
        <p:blipFill>
          <a:blip r:embed="rId7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101" name="tb_14"/>
          <p:cNvSpPr txBox="1"/>
          <p:nvPr/>
        </p:nvSpPr>
        <p:spPr>
          <a:xfrm>
            <a:off x="380880" y="6603120"/>
            <a:ext cx="2666160" cy="19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35"/>
              </a:lnSpc>
            </a:pPr>
            <a:r>
              <a:rPr lang="en-US" sz="82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UFCEP-0-3 · Course Assignment Presentation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102" name="tb_15"/>
          <p:cNvSpPr txBox="1"/>
          <p:nvPr/>
        </p:nvSpPr>
        <p:spPr>
          <a:xfrm>
            <a:off x="11466720" y="6595920"/>
            <a:ext cx="412560" cy="20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35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Consolas"/>
                <a:ea typeface="Consolas"/>
              </a:rPr>
              <a:t>2 / 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vedas_media_3_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pic>
        <p:nvPicPr>
          <p:cNvPr id="338" name="vedas_media_3_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2192000" cy="857250"/>
          </a:xfrm>
          <a:prstGeom prst="rect">
            <a:avLst/>
          </a:prstGeom>
        </p:spPr>
      </p:pic>
      <p:sp>
        <p:nvSpPr>
          <p:cNvPr id="217" name="tb_0"/>
          <p:cNvSpPr txBox="1"/>
          <p:nvPr/>
        </p:nvSpPr>
        <p:spPr>
          <a:xfrm>
            <a:off x="457200" y="266400"/>
            <a:ext cx="1365408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2520"/>
              </a:lnSpc>
            </a:pPr>
            <a:r>
              <a:rPr lang="en-US" sz="2100" b="1" u="none" strike="noStrike" spc="14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Project Structure — 9 Pools, 36 Forms &amp; Worker Counts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18" name="tb_1"/>
          <p:cNvSpPr txBox="1"/>
          <p:nvPr/>
        </p:nvSpPr>
        <p:spPr>
          <a:xfrm>
            <a:off x="457200" y="637920"/>
            <a:ext cx="13532760" cy="18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60"/>
              </a:lnSpc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Hospital Patient Pathway v14 · Process landscape, form binding and automation scale at a glance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39" name="vedas_media_3_2"/>
          <p:cNvPicPr/>
          <p:nvPr/>
        </p:nvPicPr>
        <p:blipFill>
          <a:blip r:embed="rId3"/>
          <a:stretch>
            <a:fillRect/>
          </a:stretch>
        </p:blipFill>
        <p:spPr>
          <a:xfrm>
            <a:off x="419100" y="1047750"/>
            <a:ext cx="2224980" cy="966490"/>
          </a:xfrm>
          <a:prstGeom prst="rect">
            <a:avLst/>
          </a:prstGeom>
        </p:spPr>
      </p:pic>
      <p:sp>
        <p:nvSpPr>
          <p:cNvPr id="220" name="tb_2"/>
          <p:cNvSpPr txBox="1"/>
          <p:nvPr/>
        </p:nvSpPr>
        <p:spPr>
          <a:xfrm>
            <a:off x="599760" y="1228680"/>
            <a:ext cx="2235600" cy="3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2520"/>
              </a:lnSpc>
            </a:pPr>
            <a:r>
              <a:rPr lang="en-US" sz="24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9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21" name="tb_3"/>
          <p:cNvSpPr txBox="1"/>
          <p:nvPr/>
        </p:nvSpPr>
        <p:spPr>
          <a:xfrm>
            <a:off x="599760" y="1586520"/>
            <a:ext cx="1900080" cy="28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120"/>
              </a:lnSpc>
            </a:pPr>
            <a:r>
              <a:rPr lang="en-US" sz="860" b="1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Executable hospital pools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  <a:p>
            <a:pPr>
              <a:lnSpc>
                <a:spcPts val="1120"/>
              </a:lnSpc>
            </a:pPr>
            <a:r>
              <a:rPr lang="en-US" sz="86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internal departments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40" name="vedas_media_3_3"/>
          <p:cNvPicPr/>
          <p:nvPr/>
        </p:nvPicPr>
        <p:blipFill>
          <a:blip r:embed="rId4"/>
          <a:stretch>
            <a:fillRect/>
          </a:stretch>
        </p:blipFill>
        <p:spPr>
          <a:xfrm>
            <a:off x="2701230" y="1047750"/>
            <a:ext cx="2224980" cy="966490"/>
          </a:xfrm>
          <a:prstGeom prst="rect">
            <a:avLst/>
          </a:prstGeom>
        </p:spPr>
      </p:pic>
      <p:sp>
        <p:nvSpPr>
          <p:cNvPr id="223" name="tb_4"/>
          <p:cNvSpPr txBox="1"/>
          <p:nvPr/>
        </p:nvSpPr>
        <p:spPr>
          <a:xfrm>
            <a:off x="2882160" y="1228680"/>
            <a:ext cx="2235600" cy="3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2520"/>
              </a:lnSpc>
            </a:pPr>
            <a:r>
              <a:rPr lang="en-US" sz="24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24" name="tb_5"/>
          <p:cNvSpPr txBox="1"/>
          <p:nvPr/>
        </p:nvSpPr>
        <p:spPr>
          <a:xfrm>
            <a:off x="2882160" y="1586520"/>
            <a:ext cx="1900080" cy="28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120"/>
              </a:lnSpc>
            </a:pPr>
            <a:r>
              <a:rPr lang="en-US" sz="860" b="1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External participants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  <a:p>
            <a:pPr>
              <a:lnSpc>
                <a:spcPts val="1120"/>
              </a:lnSpc>
            </a:pPr>
            <a:r>
              <a:rPr lang="en-US" sz="86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services &amp; the patient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41" name="vedas_media_3_4"/>
          <p:cNvPicPr/>
          <p:nvPr/>
        </p:nvPicPr>
        <p:blipFill>
          <a:blip r:embed="rId5"/>
          <a:stretch>
            <a:fillRect/>
          </a:stretch>
        </p:blipFill>
        <p:spPr>
          <a:xfrm>
            <a:off x="4983361" y="1047750"/>
            <a:ext cx="2224980" cy="966490"/>
          </a:xfrm>
          <a:prstGeom prst="rect">
            <a:avLst/>
          </a:prstGeom>
        </p:spPr>
      </p:pic>
      <p:sp>
        <p:nvSpPr>
          <p:cNvPr id="226" name="tb_6"/>
          <p:cNvSpPr txBox="1"/>
          <p:nvPr/>
        </p:nvSpPr>
        <p:spPr>
          <a:xfrm>
            <a:off x="5164200" y="1228680"/>
            <a:ext cx="2235600" cy="3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2520"/>
              </a:lnSpc>
            </a:pPr>
            <a:r>
              <a:rPr lang="en-US" sz="2400" b="1" u="none" strike="noStrike">
                <a:solidFill>
                  <a:srgbClr val="B87A18"/>
                </a:solidFill>
                <a:effectLst/>
                <a:uFillTx/>
                <a:latin typeface="Segoe UI"/>
                <a:ea typeface="Segoe UI"/>
              </a:rPr>
              <a:t>36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27" name="tb_7"/>
          <p:cNvSpPr txBox="1"/>
          <p:nvPr/>
        </p:nvSpPr>
        <p:spPr>
          <a:xfrm>
            <a:off x="5164200" y="1586520"/>
            <a:ext cx="1900080" cy="28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120"/>
              </a:lnSpc>
            </a:pPr>
            <a:r>
              <a:rPr lang="en-US" sz="860" b="1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Camunda Forms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  <a:p>
            <a:pPr>
              <a:lnSpc>
                <a:spcPts val="1120"/>
              </a:lnSpc>
            </a:pPr>
            <a:r>
              <a:rPr lang="en-US" sz="86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bound to user tasks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42" name="vedas_media_3_5"/>
          <p:cNvPicPr/>
          <p:nvPr/>
        </p:nvPicPr>
        <p:blipFill>
          <a:blip r:embed="rId6"/>
          <a:stretch>
            <a:fillRect/>
          </a:stretch>
        </p:blipFill>
        <p:spPr>
          <a:xfrm>
            <a:off x="7265491" y="1047750"/>
            <a:ext cx="2224980" cy="966490"/>
          </a:xfrm>
          <a:prstGeom prst="rect">
            <a:avLst/>
          </a:prstGeom>
        </p:spPr>
      </p:pic>
      <p:sp>
        <p:nvSpPr>
          <p:cNvPr id="229" name="tb_8"/>
          <p:cNvSpPr txBox="1"/>
          <p:nvPr/>
        </p:nvSpPr>
        <p:spPr>
          <a:xfrm>
            <a:off x="7446240" y="1228680"/>
            <a:ext cx="2235600" cy="3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2520"/>
              </a:lnSpc>
            </a:pPr>
            <a:r>
              <a:rPr lang="en-US" sz="24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39 </a:t>
            </a:r>
            <a:r>
              <a:rPr lang="en-US" sz="1120" b="1" u="none" strike="noStrike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tasks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30" name="tb_9"/>
          <p:cNvSpPr txBox="1"/>
          <p:nvPr/>
        </p:nvSpPr>
        <p:spPr>
          <a:xfrm>
            <a:off x="7446240" y="1586520"/>
            <a:ext cx="1900080" cy="28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120"/>
              </a:lnSpc>
            </a:pPr>
            <a:r>
              <a:rPr lang="en-US" sz="860" b="1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User tasks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  <a:p>
            <a:pPr>
              <a:lnSpc>
                <a:spcPts val="1120"/>
              </a:lnSpc>
            </a:pPr>
            <a:r>
              <a:rPr lang="en-US" sz="86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3 forms reused across tasks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43" name="vedas_media_3_6"/>
          <p:cNvPicPr/>
          <p:nvPr/>
        </p:nvPicPr>
        <p:blipFill>
          <a:blip r:embed="rId7"/>
          <a:stretch>
            <a:fillRect/>
          </a:stretch>
        </p:blipFill>
        <p:spPr>
          <a:xfrm>
            <a:off x="9547622" y="1047750"/>
            <a:ext cx="2224980" cy="966490"/>
          </a:xfrm>
          <a:prstGeom prst="rect">
            <a:avLst/>
          </a:prstGeom>
        </p:spPr>
      </p:pic>
      <p:sp>
        <p:nvSpPr>
          <p:cNvPr id="232" name="tb_10"/>
          <p:cNvSpPr txBox="1"/>
          <p:nvPr/>
        </p:nvSpPr>
        <p:spPr>
          <a:xfrm>
            <a:off x="9728280" y="1228680"/>
            <a:ext cx="2235600" cy="35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2520"/>
              </a:lnSpc>
            </a:pPr>
            <a:r>
              <a:rPr lang="en-US" sz="24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36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33" name="tb_11"/>
          <p:cNvSpPr txBox="1"/>
          <p:nvPr/>
        </p:nvSpPr>
        <p:spPr>
          <a:xfrm>
            <a:off x="9728280" y="1586520"/>
            <a:ext cx="1900080" cy="28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120"/>
              </a:lnSpc>
            </a:pPr>
            <a:r>
              <a:rPr lang="en-US" sz="860" b="1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Java worker classes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  <a:p>
            <a:pPr>
              <a:lnSpc>
                <a:spcPts val="1120"/>
              </a:lnSpc>
            </a:pPr>
            <a:r>
              <a:rPr lang="en-US" sz="86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37 subscriptions · 36 job types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44" name="vedas_media_3_7"/>
          <p:cNvPicPr/>
          <p:nvPr/>
        </p:nvPicPr>
        <p:blipFill>
          <a:blip r:embed="rId8"/>
          <a:stretch>
            <a:fillRect/>
          </a:stretch>
        </p:blipFill>
        <p:spPr>
          <a:xfrm>
            <a:off x="419100" y="2090440"/>
            <a:ext cx="5986165" cy="1438275"/>
          </a:xfrm>
          <a:prstGeom prst="rect">
            <a:avLst/>
          </a:prstGeom>
        </p:spPr>
      </p:pic>
      <p:sp>
        <p:nvSpPr>
          <p:cNvPr id="235" name="vedas_native_shape_3_0"/>
          <p:cNvSpPr/>
          <p:nvPr/>
        </p:nvSpPr>
        <p:spPr>
          <a:xfrm>
            <a:off x="618840" y="2275920"/>
            <a:ext cx="37800" cy="15228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36" name="tb_12"/>
          <p:cNvSpPr txBox="1"/>
          <p:nvPr/>
        </p:nvSpPr>
        <p:spPr>
          <a:xfrm>
            <a:off x="733320" y="2271240"/>
            <a:ext cx="2944080" cy="1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60"/>
              </a:lnSpc>
            </a:pPr>
            <a:r>
              <a:rPr lang="en-US" sz="1050" b="1" u="none" strike="noStrike" spc="60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EXECUTABLE HOSPITAL POOLS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37" name="tb_13"/>
          <p:cNvSpPr txBox="1"/>
          <p:nvPr/>
        </p:nvSpPr>
        <p:spPr>
          <a:xfrm>
            <a:off x="6041160" y="2280600"/>
            <a:ext cx="196560" cy="17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× 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38" name="vedas_native_shape_3_1"/>
          <p:cNvSpPr/>
          <p:nvPr/>
        </p:nvSpPr>
        <p:spPr>
          <a:xfrm>
            <a:off x="618840" y="2528280"/>
            <a:ext cx="1216800" cy="228600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9360">
            <a:solidFill>
              <a:srgbClr val="D7E2F0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39" name="tb_14"/>
          <p:cNvSpPr txBox="1"/>
          <p:nvPr/>
        </p:nvSpPr>
        <p:spPr>
          <a:xfrm>
            <a:off x="618840" y="2528280"/>
            <a:ext cx="1240920" cy="264600"/>
          </a:xfrm>
          <a:prstGeom prst="rect">
            <a:avLst/>
          </a:prstGeom>
          <a:noFill/>
          <a:ln w="0">
            <a:noFill/>
          </a:ln>
        </p:spPr>
        <p:txBody>
          <a:bodyPr lIns="95040" tIns="37800" rIns="95040" bIns="37800" anchor="ctr">
            <a:noAutofit/>
          </a:bodyPr>
          <a:p>
            <a:pPr>
              <a:lnSpc>
                <a:spcPts val="1080"/>
              </a:lnSpc>
            </a:pPr>
            <a:r>
              <a:rPr lang="en-US" sz="900" b="0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Medical Secretaries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40" name="vedas_native_shape_3_2"/>
          <p:cNvSpPr/>
          <p:nvPr/>
        </p:nvSpPr>
        <p:spPr>
          <a:xfrm>
            <a:off x="1902600" y="2528280"/>
            <a:ext cx="821520" cy="228600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9360">
            <a:solidFill>
              <a:srgbClr val="D7E2F0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41" name="tb_15"/>
          <p:cNvSpPr txBox="1"/>
          <p:nvPr/>
        </p:nvSpPr>
        <p:spPr>
          <a:xfrm>
            <a:off x="1902600" y="2528280"/>
            <a:ext cx="837720" cy="264600"/>
          </a:xfrm>
          <a:prstGeom prst="rect">
            <a:avLst/>
          </a:prstGeom>
          <a:noFill/>
          <a:ln w="0">
            <a:noFill/>
          </a:ln>
        </p:spPr>
        <p:txBody>
          <a:bodyPr lIns="95040" tIns="37800" rIns="95040" bIns="37800" anchor="ctr">
            <a:noAutofit/>
          </a:bodyPr>
          <a:p>
            <a:pPr>
              <a:lnSpc>
                <a:spcPts val="1080"/>
              </a:lnSpc>
            </a:pPr>
            <a:r>
              <a:rPr lang="en-US" sz="900" b="0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Consultants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42" name="vedas_native_shape_3_3"/>
          <p:cNvSpPr/>
          <p:nvPr/>
        </p:nvSpPr>
        <p:spPr>
          <a:xfrm>
            <a:off x="2791080" y="2528280"/>
            <a:ext cx="1259640" cy="228600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9360">
            <a:solidFill>
              <a:srgbClr val="D7E2F0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43" name="tb_16"/>
          <p:cNvSpPr txBox="1"/>
          <p:nvPr/>
        </p:nvSpPr>
        <p:spPr>
          <a:xfrm>
            <a:off x="2791080" y="2528280"/>
            <a:ext cx="1284480" cy="264600"/>
          </a:xfrm>
          <a:prstGeom prst="rect">
            <a:avLst/>
          </a:prstGeom>
          <a:noFill/>
          <a:ln w="0">
            <a:noFill/>
          </a:ln>
        </p:spPr>
        <p:txBody>
          <a:bodyPr lIns="95040" tIns="37800" rIns="95040" bIns="37800" anchor="ctr">
            <a:noAutofit/>
          </a:bodyPr>
          <a:p>
            <a:pPr>
              <a:lnSpc>
                <a:spcPts val="1080"/>
              </a:lnSpc>
            </a:pPr>
            <a:r>
              <a:rPr lang="en-US" sz="900" b="0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Outpatient Bookings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44" name="vedas_native_shape_3_4"/>
          <p:cNvSpPr/>
          <p:nvPr/>
        </p:nvSpPr>
        <p:spPr>
          <a:xfrm>
            <a:off x="618840" y="2823840"/>
            <a:ext cx="2121480" cy="228600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9360">
            <a:solidFill>
              <a:srgbClr val="D7E2F0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45" name="tb_17"/>
          <p:cNvSpPr txBox="1"/>
          <p:nvPr/>
        </p:nvSpPr>
        <p:spPr>
          <a:xfrm>
            <a:off x="618840" y="2823840"/>
            <a:ext cx="2163600" cy="264600"/>
          </a:xfrm>
          <a:prstGeom prst="rect">
            <a:avLst/>
          </a:prstGeom>
          <a:noFill/>
          <a:ln w="0">
            <a:noFill/>
          </a:ln>
        </p:spPr>
        <p:txBody>
          <a:bodyPr lIns="95040" tIns="37800" rIns="95040" bIns="37800" anchor="ctr">
            <a:noAutofit/>
          </a:bodyPr>
          <a:p>
            <a:pPr>
              <a:lnSpc>
                <a:spcPts val="1080"/>
              </a:lnSpc>
            </a:pPr>
            <a:r>
              <a:rPr lang="en-US" sz="900" b="0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Treatment &amp; Chemotherapy Bookings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46" name="vedas_native_shape_3_5"/>
          <p:cNvSpPr/>
          <p:nvPr/>
        </p:nvSpPr>
        <p:spPr>
          <a:xfrm>
            <a:off x="2807280" y="2823840"/>
            <a:ext cx="611640" cy="228600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9360">
            <a:solidFill>
              <a:srgbClr val="D7E2F0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47" name="tb_18"/>
          <p:cNvSpPr txBox="1"/>
          <p:nvPr/>
        </p:nvSpPr>
        <p:spPr>
          <a:xfrm>
            <a:off x="2807280" y="2823840"/>
            <a:ext cx="623520" cy="264600"/>
          </a:xfrm>
          <a:prstGeom prst="rect">
            <a:avLst/>
          </a:prstGeom>
          <a:noFill/>
          <a:ln w="0">
            <a:noFill/>
          </a:ln>
        </p:spPr>
        <p:txBody>
          <a:bodyPr lIns="95040" tIns="37800" rIns="95040" bIns="37800" anchor="ctr">
            <a:noAutofit/>
          </a:bodyPr>
          <a:p>
            <a:pPr>
              <a:lnSpc>
                <a:spcPts val="1080"/>
              </a:lnSpc>
            </a:pPr>
            <a:r>
              <a:rPr lang="en-US" sz="900" b="0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Finance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48" name="vedas_native_shape_3_6"/>
          <p:cNvSpPr/>
          <p:nvPr/>
        </p:nvSpPr>
        <p:spPr>
          <a:xfrm>
            <a:off x="3485880" y="2823840"/>
            <a:ext cx="1498320" cy="228600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9360">
            <a:solidFill>
              <a:srgbClr val="D7E2F0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49" name="tb_19"/>
          <p:cNvSpPr txBox="1"/>
          <p:nvPr/>
        </p:nvSpPr>
        <p:spPr>
          <a:xfrm>
            <a:off x="3485880" y="2823840"/>
            <a:ext cx="1528200" cy="264600"/>
          </a:xfrm>
          <a:prstGeom prst="rect">
            <a:avLst/>
          </a:prstGeom>
          <a:noFill/>
          <a:ln w="0">
            <a:noFill/>
          </a:ln>
        </p:spPr>
        <p:txBody>
          <a:bodyPr lIns="95040" tIns="37800" rIns="95040" bIns="37800" anchor="ctr">
            <a:noAutofit/>
          </a:bodyPr>
          <a:p>
            <a:pPr>
              <a:lnSpc>
                <a:spcPts val="1080"/>
              </a:lnSpc>
            </a:pPr>
            <a:r>
              <a:rPr lang="en-US" sz="900" b="0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Clinical Nurse Specialists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50" name="vedas_native_shape_3_7"/>
          <p:cNvSpPr/>
          <p:nvPr/>
        </p:nvSpPr>
        <p:spPr>
          <a:xfrm>
            <a:off x="5051160" y="2823840"/>
            <a:ext cx="891000" cy="228600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9360">
            <a:solidFill>
              <a:srgbClr val="D7E2F0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51" name="tb_20"/>
          <p:cNvSpPr txBox="1"/>
          <p:nvPr/>
        </p:nvSpPr>
        <p:spPr>
          <a:xfrm>
            <a:off x="5051160" y="2823840"/>
            <a:ext cx="908640" cy="264600"/>
          </a:xfrm>
          <a:prstGeom prst="rect">
            <a:avLst/>
          </a:prstGeom>
          <a:noFill/>
          <a:ln w="0">
            <a:noFill/>
          </a:ln>
        </p:spPr>
        <p:txBody>
          <a:bodyPr lIns="95040" tIns="37800" rIns="95040" bIns="37800" anchor="ctr">
            <a:noAutofit/>
          </a:bodyPr>
          <a:p>
            <a:pPr>
              <a:lnSpc>
                <a:spcPts val="1080"/>
              </a:lnSpc>
            </a:pPr>
            <a:r>
              <a:rPr lang="en-US" sz="900" b="0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Call Handling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52" name="vedas_native_shape_3_8"/>
          <p:cNvSpPr/>
          <p:nvPr/>
        </p:nvSpPr>
        <p:spPr>
          <a:xfrm>
            <a:off x="618840" y="3119040"/>
            <a:ext cx="1346040" cy="228600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9360">
            <a:solidFill>
              <a:srgbClr val="D7E2F0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53" name="tb_21"/>
          <p:cNvSpPr txBox="1"/>
          <p:nvPr/>
        </p:nvSpPr>
        <p:spPr>
          <a:xfrm>
            <a:off x="618840" y="3119040"/>
            <a:ext cx="1372680" cy="264600"/>
          </a:xfrm>
          <a:prstGeom prst="rect">
            <a:avLst/>
          </a:prstGeom>
          <a:noFill/>
          <a:ln w="0">
            <a:noFill/>
          </a:ln>
        </p:spPr>
        <p:txBody>
          <a:bodyPr lIns="95040" tIns="37800" rIns="95040" bIns="37800" anchor="ctr">
            <a:noAutofit/>
          </a:bodyPr>
          <a:p>
            <a:pPr>
              <a:lnSpc>
                <a:spcPts val="1080"/>
              </a:lnSpc>
            </a:pPr>
            <a:r>
              <a:rPr lang="en-US" sz="900" b="0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Pathway Coordinators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54" name="vedas_native_shape_3_9"/>
          <p:cNvSpPr/>
          <p:nvPr/>
        </p:nvSpPr>
        <p:spPr>
          <a:xfrm>
            <a:off x="2031840" y="3119040"/>
            <a:ext cx="1638720" cy="228600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9360">
            <a:solidFill>
              <a:srgbClr val="D7E2F0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55" name="tb_22"/>
          <p:cNvSpPr txBox="1"/>
          <p:nvPr/>
        </p:nvSpPr>
        <p:spPr>
          <a:xfrm>
            <a:off x="2031840" y="3119040"/>
            <a:ext cx="1671480" cy="264600"/>
          </a:xfrm>
          <a:prstGeom prst="rect">
            <a:avLst/>
          </a:prstGeom>
          <a:noFill/>
          <a:ln w="0">
            <a:noFill/>
          </a:ln>
        </p:spPr>
        <p:txBody>
          <a:bodyPr lIns="95040" tIns="37800" rIns="95040" bIns="37800" anchor="ctr">
            <a:noAutofit/>
          </a:bodyPr>
          <a:p>
            <a:pPr>
              <a:lnSpc>
                <a:spcPts val="1080"/>
              </a:lnSpc>
            </a:pPr>
            <a:r>
              <a:rPr lang="en-US" sz="900" b="0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Administrative Management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45" name="vedas_media_3_8"/>
          <p:cNvPicPr/>
          <p:nvPr/>
        </p:nvPicPr>
        <p:blipFill>
          <a:blip r:embed="rId9"/>
          <a:stretch>
            <a:fillRect/>
          </a:stretch>
        </p:blipFill>
        <p:spPr>
          <a:xfrm>
            <a:off x="419100" y="3585865"/>
            <a:ext cx="5986165" cy="1143000"/>
          </a:xfrm>
          <a:prstGeom prst="rect">
            <a:avLst/>
          </a:prstGeom>
        </p:spPr>
      </p:pic>
      <p:sp>
        <p:nvSpPr>
          <p:cNvPr id="257" name="vedas_native_shape_3_10"/>
          <p:cNvSpPr/>
          <p:nvPr/>
        </p:nvSpPr>
        <p:spPr>
          <a:xfrm>
            <a:off x="618840" y="3771360"/>
            <a:ext cx="37800" cy="15228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58" name="tb_23"/>
          <p:cNvSpPr txBox="1"/>
          <p:nvPr/>
        </p:nvSpPr>
        <p:spPr>
          <a:xfrm>
            <a:off x="733320" y="3766680"/>
            <a:ext cx="2431440" cy="1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60"/>
              </a:lnSpc>
            </a:pPr>
            <a:r>
              <a:rPr lang="en-US" sz="1050" b="1" u="none" strike="noStrike" spc="60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EXTERNAL PARTICIPANTS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59" name="tb_24"/>
          <p:cNvSpPr txBox="1"/>
          <p:nvPr/>
        </p:nvSpPr>
        <p:spPr>
          <a:xfrm>
            <a:off x="6041160" y="3776040"/>
            <a:ext cx="196560" cy="17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× 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60" name="vedas_native_shape_3_11"/>
          <p:cNvSpPr/>
          <p:nvPr/>
        </p:nvSpPr>
        <p:spPr>
          <a:xfrm>
            <a:off x="618840" y="4023720"/>
            <a:ext cx="194544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A9C4E4"/>
            </a:solidFill>
            <a:custDash>
              <a:ds d="403846" sp="200000"/>
            </a:custDash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61" name="vedas_native_shape_3_12"/>
          <p:cNvSpPr/>
          <p:nvPr/>
        </p:nvSpPr>
        <p:spPr>
          <a:xfrm>
            <a:off x="723600" y="4109400"/>
            <a:ext cx="56880" cy="56880"/>
          </a:xfrm>
          <a:prstGeom prst="ellipse">
            <a:avLst/>
          </a:prstGeom>
          <a:solidFill>
            <a:srgbClr val="E8A33D"/>
          </a:solidFill>
          <a:ln w="0">
            <a:noFill/>
          </a:ln>
        </p:spPr>
        <p:txBody>
          <a:bodyPr lIns="90000" tIns="11880" rIns="90000" bIns="118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62" name="tb_25"/>
          <p:cNvSpPr txBox="1"/>
          <p:nvPr/>
        </p:nvSpPr>
        <p:spPr>
          <a:xfrm>
            <a:off x="838080" y="4071600"/>
            <a:ext cx="1945440" cy="16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0" u="none" strike="noStrike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external communication service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63" name="vedas_native_shape_3_13"/>
          <p:cNvSpPr/>
          <p:nvPr/>
        </p:nvSpPr>
        <p:spPr>
          <a:xfrm>
            <a:off x="2631240" y="4023720"/>
            <a:ext cx="121932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A9C4E4"/>
            </a:solidFill>
            <a:custDash>
              <a:ds d="403846" sp="200000"/>
            </a:custDash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64" name="vedas_native_shape_3_14"/>
          <p:cNvSpPr/>
          <p:nvPr/>
        </p:nvSpPr>
        <p:spPr>
          <a:xfrm>
            <a:off x="2736000" y="4109400"/>
            <a:ext cx="56880" cy="56880"/>
          </a:xfrm>
          <a:prstGeom prst="ellipse">
            <a:avLst/>
          </a:prstGeom>
          <a:solidFill>
            <a:srgbClr val="E8A33D"/>
          </a:solidFill>
          <a:ln w="0">
            <a:noFill/>
          </a:ln>
        </p:spPr>
        <p:txBody>
          <a:bodyPr lIns="90000" tIns="11880" rIns="90000" bIns="118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65" name="tb_26"/>
          <p:cNvSpPr txBox="1"/>
          <p:nvPr/>
        </p:nvSpPr>
        <p:spPr>
          <a:xfrm>
            <a:off x="2850120" y="4071600"/>
            <a:ext cx="1074600" cy="16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0" u="none" strike="noStrike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payment provider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66" name="vedas_native_shape_3_15"/>
          <p:cNvSpPr/>
          <p:nvPr/>
        </p:nvSpPr>
        <p:spPr>
          <a:xfrm>
            <a:off x="3917520" y="4023720"/>
            <a:ext cx="141192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A9C4E4"/>
            </a:solidFill>
            <a:custDash>
              <a:ds d="403846" sp="200000"/>
            </a:custDash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67" name="vedas_native_shape_3_16"/>
          <p:cNvSpPr/>
          <p:nvPr/>
        </p:nvSpPr>
        <p:spPr>
          <a:xfrm>
            <a:off x="4022280" y="4109400"/>
            <a:ext cx="56880" cy="56880"/>
          </a:xfrm>
          <a:prstGeom prst="ellipse">
            <a:avLst/>
          </a:prstGeom>
          <a:solidFill>
            <a:srgbClr val="E8A33D"/>
          </a:solidFill>
          <a:ln w="0">
            <a:noFill/>
          </a:ln>
        </p:spPr>
        <p:txBody>
          <a:bodyPr lIns="90000" tIns="11880" rIns="90000" bIns="118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68" name="tb_27"/>
          <p:cNvSpPr txBox="1"/>
          <p:nvPr/>
        </p:nvSpPr>
        <p:spPr>
          <a:xfrm>
            <a:off x="4136400" y="4071600"/>
            <a:ext cx="1305360" cy="16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0" u="none" strike="noStrike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lab &amp; imaging service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69" name="vedas_native_shape_3_17"/>
          <p:cNvSpPr/>
          <p:nvPr/>
        </p:nvSpPr>
        <p:spPr>
          <a:xfrm>
            <a:off x="618840" y="4319280"/>
            <a:ext cx="127224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A9C4E4"/>
            </a:solidFill>
            <a:custDash>
              <a:ds d="403846" sp="200000"/>
            </a:custDash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70" name="vedas_native_shape_3_18"/>
          <p:cNvSpPr/>
          <p:nvPr/>
        </p:nvSpPr>
        <p:spPr>
          <a:xfrm>
            <a:off x="723600" y="4404960"/>
            <a:ext cx="56880" cy="56880"/>
          </a:xfrm>
          <a:prstGeom prst="ellipse">
            <a:avLst/>
          </a:prstGeom>
          <a:solidFill>
            <a:srgbClr val="E8A33D"/>
          </a:solidFill>
          <a:ln w="0">
            <a:noFill/>
          </a:ln>
        </p:spPr>
        <p:txBody>
          <a:bodyPr lIns="90000" tIns="11880" rIns="90000" bIns="118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71" name="tb_28"/>
          <p:cNvSpPr txBox="1"/>
          <p:nvPr/>
        </p:nvSpPr>
        <p:spPr>
          <a:xfrm>
            <a:off x="838080" y="4366800"/>
            <a:ext cx="1137600" cy="16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0" u="none" strike="noStrike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scheduling service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72" name="vedas_native_shape_3_19"/>
          <p:cNvSpPr/>
          <p:nvPr/>
        </p:nvSpPr>
        <p:spPr>
          <a:xfrm>
            <a:off x="1958040" y="4319280"/>
            <a:ext cx="67536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A9C4E4"/>
            </a:solidFill>
            <a:custDash>
              <a:ds d="403846" sp="200000"/>
            </a:custDash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73" name="vedas_native_shape_3_20"/>
          <p:cNvSpPr/>
          <p:nvPr/>
        </p:nvSpPr>
        <p:spPr>
          <a:xfrm>
            <a:off x="2062800" y="4404960"/>
            <a:ext cx="56880" cy="56880"/>
          </a:xfrm>
          <a:prstGeom prst="ellipse">
            <a:avLst/>
          </a:prstGeom>
          <a:solidFill>
            <a:srgbClr val="E8A33D"/>
          </a:solidFill>
          <a:ln w="0">
            <a:noFill/>
          </a:ln>
        </p:spPr>
        <p:txBody>
          <a:bodyPr lIns="90000" tIns="11880" rIns="90000" bIns="118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74" name="tb_29"/>
          <p:cNvSpPr txBox="1"/>
          <p:nvPr/>
        </p:nvSpPr>
        <p:spPr>
          <a:xfrm>
            <a:off x="2176920" y="4366800"/>
            <a:ext cx="421560" cy="16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0" u="none" strike="noStrike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patient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46" name="vedas_media_3_9"/>
          <p:cNvPicPr/>
          <p:nvPr/>
        </p:nvPicPr>
        <p:blipFill>
          <a:blip r:embed="rId10"/>
          <a:stretch>
            <a:fillRect/>
          </a:stretch>
        </p:blipFill>
        <p:spPr>
          <a:xfrm>
            <a:off x="419100" y="4786015"/>
            <a:ext cx="5986165" cy="1031528"/>
          </a:xfrm>
          <a:prstGeom prst="rect">
            <a:avLst/>
          </a:prstGeom>
        </p:spPr>
      </p:pic>
      <p:sp>
        <p:nvSpPr>
          <p:cNvPr id="276" name="vedas_native_shape_3_21"/>
          <p:cNvSpPr/>
          <p:nvPr/>
        </p:nvSpPr>
        <p:spPr>
          <a:xfrm>
            <a:off x="618840" y="4971600"/>
            <a:ext cx="37800" cy="15228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77" name="tb_30"/>
          <p:cNvSpPr txBox="1"/>
          <p:nvPr/>
        </p:nvSpPr>
        <p:spPr>
          <a:xfrm>
            <a:off x="733320" y="4966920"/>
            <a:ext cx="2076840" cy="1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60"/>
              </a:lnSpc>
            </a:pPr>
            <a:r>
              <a:rPr lang="en-US" sz="1050" b="1" u="none" strike="noStrike" spc="60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OTHER MODEL SCALE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78" name="tb_31"/>
          <p:cNvSpPr txBox="1"/>
          <p:nvPr/>
        </p:nvSpPr>
        <p:spPr>
          <a:xfrm>
            <a:off x="618840" y="5223960"/>
            <a:ext cx="1322280" cy="29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980"/>
              </a:lnSpc>
            </a:pPr>
            <a:r>
              <a:rPr lang="en-US" sz="165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42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79" name="tb_32"/>
          <p:cNvSpPr txBox="1"/>
          <p:nvPr/>
        </p:nvSpPr>
        <p:spPr>
          <a:xfrm>
            <a:off x="618840" y="5500080"/>
            <a:ext cx="1322280" cy="17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070"/>
              </a:lnSpc>
            </a:pPr>
            <a:r>
              <a:rPr lang="en-US" sz="82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Gateways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80" name="tb_33"/>
          <p:cNvSpPr txBox="1"/>
          <p:nvPr/>
        </p:nvSpPr>
        <p:spPr>
          <a:xfrm>
            <a:off x="2048760" y="5223960"/>
            <a:ext cx="1322280" cy="29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980"/>
              </a:lnSpc>
            </a:pPr>
            <a:r>
              <a:rPr lang="en-US" sz="165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18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81" name="tb_34"/>
          <p:cNvSpPr txBox="1"/>
          <p:nvPr/>
        </p:nvSpPr>
        <p:spPr>
          <a:xfrm>
            <a:off x="2048760" y="5500080"/>
            <a:ext cx="1322280" cy="17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070"/>
              </a:lnSpc>
            </a:pPr>
            <a:r>
              <a:rPr lang="en-US" sz="82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Boundary events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82" name="tb_35"/>
          <p:cNvSpPr txBox="1"/>
          <p:nvPr/>
        </p:nvSpPr>
        <p:spPr>
          <a:xfrm>
            <a:off x="3478680" y="5223960"/>
            <a:ext cx="1322280" cy="29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980"/>
              </a:lnSpc>
            </a:pPr>
            <a:r>
              <a:rPr lang="en-US" sz="165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9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83" name="tb_36"/>
          <p:cNvSpPr txBox="1"/>
          <p:nvPr/>
        </p:nvSpPr>
        <p:spPr>
          <a:xfrm>
            <a:off x="3478680" y="5500080"/>
            <a:ext cx="1322280" cy="17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070"/>
              </a:lnSpc>
            </a:pPr>
            <a:r>
              <a:rPr lang="en-US" sz="82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Error codes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84" name="tb_37"/>
          <p:cNvSpPr txBox="1"/>
          <p:nvPr/>
        </p:nvSpPr>
        <p:spPr>
          <a:xfrm>
            <a:off x="4908600" y="5223960"/>
            <a:ext cx="1322280" cy="29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980"/>
              </a:lnSpc>
            </a:pPr>
            <a:r>
              <a:rPr lang="en-US" sz="165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85" name="tb_38"/>
          <p:cNvSpPr txBox="1"/>
          <p:nvPr/>
        </p:nvSpPr>
        <p:spPr>
          <a:xfrm>
            <a:off x="4908600" y="5500080"/>
            <a:ext cx="1322280" cy="17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070"/>
              </a:lnSpc>
            </a:pPr>
            <a:r>
              <a:rPr lang="en-US" sz="82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Collapsed subprocesses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47" name="vedas_media_3_10"/>
          <p:cNvPicPr/>
          <p:nvPr/>
        </p:nvPicPr>
        <p:blipFill>
          <a:blip r:embed="rId11"/>
          <a:stretch>
            <a:fillRect/>
          </a:stretch>
        </p:blipFill>
        <p:spPr>
          <a:xfrm>
            <a:off x="6557665" y="2090440"/>
            <a:ext cx="5215235" cy="2438400"/>
          </a:xfrm>
          <a:prstGeom prst="rect">
            <a:avLst/>
          </a:prstGeom>
        </p:spPr>
      </p:pic>
      <p:sp>
        <p:nvSpPr>
          <p:cNvPr id="287" name="vedas_native_shape_3_22"/>
          <p:cNvSpPr/>
          <p:nvPr/>
        </p:nvSpPr>
        <p:spPr>
          <a:xfrm>
            <a:off x="6757560" y="2275920"/>
            <a:ext cx="37800" cy="15228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88" name="tb_39"/>
          <p:cNvSpPr txBox="1"/>
          <p:nvPr/>
        </p:nvSpPr>
        <p:spPr>
          <a:xfrm>
            <a:off x="6871680" y="2271240"/>
            <a:ext cx="2890080" cy="1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60"/>
              </a:lnSpc>
            </a:pPr>
            <a:r>
              <a:rPr lang="en-US" sz="1050" b="1" u="none" strike="noStrike" spc="60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FORM DISTRIBUTION BY POOL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89" name="tb_40"/>
          <p:cNvSpPr txBox="1"/>
          <p:nvPr/>
        </p:nvSpPr>
        <p:spPr>
          <a:xfrm>
            <a:off x="11096280" y="2280600"/>
            <a:ext cx="570960" cy="17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36 forms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90" name="tb_41"/>
          <p:cNvSpPr txBox="1"/>
          <p:nvPr/>
        </p:nvSpPr>
        <p:spPr>
          <a:xfrm>
            <a:off x="6757560" y="2531160"/>
            <a:ext cx="1845720" cy="172800"/>
          </a:xfrm>
          <a:prstGeom prst="rect">
            <a:avLst/>
          </a:prstGeom>
          <a:noFill/>
          <a:ln w="0">
            <a:noFill/>
          </a:ln>
        </p:spPr>
        <p:txBody>
          <a:bodyPr lIns="0" tIns="0" rIns="95040" bIns="0" anchor="ctr">
            <a:noAutofit/>
          </a:bodyPr>
          <a:p>
            <a:pPr algn="r">
              <a:lnSpc>
                <a:spcPts val="1080"/>
              </a:lnSpc>
            </a:pP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Consultants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91" name="vedas_native_shape_3_23"/>
          <p:cNvSpPr/>
          <p:nvPr/>
        </p:nvSpPr>
        <p:spPr>
          <a:xfrm>
            <a:off x="8567280" y="2533320"/>
            <a:ext cx="2757600" cy="1332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48" name="vedas_media_3_11"/>
          <p:cNvPicPr/>
          <p:nvPr/>
        </p:nvPicPr>
        <p:blipFill>
          <a:blip r:embed="rId12"/>
          <a:stretch>
            <a:fillRect/>
          </a:stretch>
        </p:blipFill>
        <p:spPr>
          <a:xfrm>
            <a:off x="8567440" y="2533352"/>
            <a:ext cx="2757785" cy="133350"/>
          </a:xfrm>
          <a:prstGeom prst="rect">
            <a:avLst/>
          </a:prstGeom>
        </p:spPr>
      </p:pic>
      <p:sp>
        <p:nvSpPr>
          <p:cNvPr id="293" name="tb_42"/>
          <p:cNvSpPr txBox="1"/>
          <p:nvPr/>
        </p:nvSpPr>
        <p:spPr>
          <a:xfrm>
            <a:off x="11324880" y="2528280"/>
            <a:ext cx="296640" cy="178560"/>
          </a:xfrm>
          <a:prstGeom prst="rect">
            <a:avLst/>
          </a:prstGeom>
          <a:noFill/>
          <a:ln w="0">
            <a:noFill/>
          </a:ln>
        </p:spPr>
        <p:txBody>
          <a:bodyPr lIns="7596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94" name="tb_43"/>
          <p:cNvSpPr txBox="1"/>
          <p:nvPr/>
        </p:nvSpPr>
        <p:spPr>
          <a:xfrm>
            <a:off x="6757560" y="2740680"/>
            <a:ext cx="1845720" cy="172800"/>
          </a:xfrm>
          <a:prstGeom prst="rect">
            <a:avLst/>
          </a:prstGeom>
          <a:noFill/>
          <a:ln w="0">
            <a:noFill/>
          </a:ln>
        </p:spPr>
        <p:txBody>
          <a:bodyPr lIns="0" tIns="0" rIns="95040" bIns="0" anchor="ctr">
            <a:noAutofit/>
          </a:bodyPr>
          <a:p>
            <a:pPr algn="r">
              <a:lnSpc>
                <a:spcPts val="1080"/>
              </a:lnSpc>
            </a:pP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Finance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95" name="vedas_native_shape_3_24"/>
          <p:cNvSpPr/>
          <p:nvPr/>
        </p:nvSpPr>
        <p:spPr>
          <a:xfrm>
            <a:off x="8567280" y="2742840"/>
            <a:ext cx="2757600" cy="1332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49" name="vedas_media_3_12"/>
          <p:cNvPicPr/>
          <p:nvPr/>
        </p:nvPicPr>
        <p:blipFill>
          <a:blip r:embed="rId13"/>
          <a:stretch>
            <a:fillRect/>
          </a:stretch>
        </p:blipFill>
        <p:spPr>
          <a:xfrm>
            <a:off x="8567440" y="2742902"/>
            <a:ext cx="2412950" cy="133350"/>
          </a:xfrm>
          <a:prstGeom prst="rect">
            <a:avLst/>
          </a:prstGeom>
        </p:spPr>
      </p:pic>
      <p:sp>
        <p:nvSpPr>
          <p:cNvPr id="297" name="tb_44"/>
          <p:cNvSpPr txBox="1"/>
          <p:nvPr/>
        </p:nvSpPr>
        <p:spPr>
          <a:xfrm>
            <a:off x="11324880" y="2737800"/>
            <a:ext cx="296640" cy="178560"/>
          </a:xfrm>
          <a:prstGeom prst="rect">
            <a:avLst/>
          </a:prstGeom>
          <a:noFill/>
          <a:ln w="0">
            <a:noFill/>
          </a:ln>
        </p:spPr>
        <p:txBody>
          <a:bodyPr lIns="7596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98" name="tb_45"/>
          <p:cNvSpPr txBox="1"/>
          <p:nvPr/>
        </p:nvSpPr>
        <p:spPr>
          <a:xfrm>
            <a:off x="6757560" y="2950200"/>
            <a:ext cx="1845720" cy="172800"/>
          </a:xfrm>
          <a:prstGeom prst="rect">
            <a:avLst/>
          </a:prstGeom>
          <a:noFill/>
          <a:ln w="0">
            <a:noFill/>
          </a:ln>
        </p:spPr>
        <p:txBody>
          <a:bodyPr lIns="0" tIns="0" rIns="95040" bIns="0" anchor="ctr">
            <a:noAutofit/>
          </a:bodyPr>
          <a:p>
            <a:pPr algn="r">
              <a:lnSpc>
                <a:spcPts val="1080"/>
              </a:lnSpc>
            </a:pP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Outpatient Bookings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299" name="vedas_native_shape_3_25"/>
          <p:cNvSpPr/>
          <p:nvPr/>
        </p:nvSpPr>
        <p:spPr>
          <a:xfrm>
            <a:off x="8567280" y="2952360"/>
            <a:ext cx="2757600" cy="1332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50" name="vedas_media_3_13"/>
          <p:cNvPicPr/>
          <p:nvPr/>
        </p:nvPicPr>
        <p:blipFill>
          <a:blip r:embed="rId14"/>
          <a:stretch>
            <a:fillRect/>
          </a:stretch>
        </p:blipFill>
        <p:spPr>
          <a:xfrm>
            <a:off x="8567440" y="2952452"/>
            <a:ext cx="2412950" cy="133350"/>
          </a:xfrm>
          <a:prstGeom prst="rect">
            <a:avLst/>
          </a:prstGeom>
        </p:spPr>
      </p:pic>
      <p:sp>
        <p:nvSpPr>
          <p:cNvPr id="301" name="tb_46"/>
          <p:cNvSpPr txBox="1"/>
          <p:nvPr/>
        </p:nvSpPr>
        <p:spPr>
          <a:xfrm>
            <a:off x="11324880" y="2947680"/>
            <a:ext cx="296640" cy="178560"/>
          </a:xfrm>
          <a:prstGeom prst="rect">
            <a:avLst/>
          </a:prstGeom>
          <a:noFill/>
          <a:ln w="0">
            <a:noFill/>
          </a:ln>
        </p:spPr>
        <p:txBody>
          <a:bodyPr lIns="7596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02" name="tb_47"/>
          <p:cNvSpPr txBox="1"/>
          <p:nvPr/>
        </p:nvSpPr>
        <p:spPr>
          <a:xfrm>
            <a:off x="6757560" y="3159720"/>
            <a:ext cx="1845720" cy="172800"/>
          </a:xfrm>
          <a:prstGeom prst="rect">
            <a:avLst/>
          </a:prstGeom>
          <a:noFill/>
          <a:ln w="0">
            <a:noFill/>
          </a:ln>
        </p:spPr>
        <p:txBody>
          <a:bodyPr lIns="0" tIns="0" rIns="95040" bIns="0" anchor="ctr">
            <a:noAutofit/>
          </a:bodyPr>
          <a:p>
            <a:pPr algn="r">
              <a:lnSpc>
                <a:spcPts val="1080"/>
              </a:lnSpc>
            </a:pP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Medical Secretaries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03" name="vedas_native_shape_3_26"/>
          <p:cNvSpPr/>
          <p:nvPr/>
        </p:nvSpPr>
        <p:spPr>
          <a:xfrm>
            <a:off x="8567280" y="3161880"/>
            <a:ext cx="2757600" cy="1332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51" name="vedas_media_3_14"/>
          <p:cNvPicPr/>
          <p:nvPr/>
        </p:nvPicPr>
        <p:blipFill>
          <a:blip r:embed="rId15"/>
          <a:stretch>
            <a:fillRect/>
          </a:stretch>
        </p:blipFill>
        <p:spPr>
          <a:xfrm>
            <a:off x="8567440" y="3162002"/>
            <a:ext cx="1378893" cy="133350"/>
          </a:xfrm>
          <a:prstGeom prst="rect">
            <a:avLst/>
          </a:prstGeom>
        </p:spPr>
      </p:pic>
      <p:sp>
        <p:nvSpPr>
          <p:cNvPr id="305" name="tb_48"/>
          <p:cNvSpPr txBox="1"/>
          <p:nvPr/>
        </p:nvSpPr>
        <p:spPr>
          <a:xfrm>
            <a:off x="11324880" y="3157200"/>
            <a:ext cx="296640" cy="178560"/>
          </a:xfrm>
          <a:prstGeom prst="rect">
            <a:avLst/>
          </a:prstGeom>
          <a:noFill/>
          <a:ln w="0">
            <a:noFill/>
          </a:ln>
        </p:spPr>
        <p:txBody>
          <a:bodyPr lIns="7596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06" name="tb_49"/>
          <p:cNvSpPr txBox="1"/>
          <p:nvPr/>
        </p:nvSpPr>
        <p:spPr>
          <a:xfrm>
            <a:off x="6757560" y="3369600"/>
            <a:ext cx="1845720" cy="172800"/>
          </a:xfrm>
          <a:prstGeom prst="rect">
            <a:avLst/>
          </a:prstGeom>
          <a:noFill/>
          <a:ln w="0">
            <a:noFill/>
          </a:ln>
        </p:spPr>
        <p:txBody>
          <a:bodyPr lIns="0" tIns="0" rIns="95040" bIns="0" anchor="ctr">
            <a:noAutofit/>
          </a:bodyPr>
          <a:p>
            <a:pPr algn="r">
              <a:lnSpc>
                <a:spcPts val="1080"/>
              </a:lnSpc>
            </a:pP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Treatment Bookings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07" name="vedas_native_shape_3_27"/>
          <p:cNvSpPr/>
          <p:nvPr/>
        </p:nvSpPr>
        <p:spPr>
          <a:xfrm>
            <a:off x="8567280" y="3371400"/>
            <a:ext cx="2757600" cy="1332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52" name="vedas_media_3_15"/>
          <p:cNvPicPr/>
          <p:nvPr/>
        </p:nvPicPr>
        <p:blipFill>
          <a:blip r:embed="rId16"/>
          <a:stretch>
            <a:fillRect/>
          </a:stretch>
        </p:blipFill>
        <p:spPr>
          <a:xfrm>
            <a:off x="8567440" y="3371552"/>
            <a:ext cx="1378893" cy="133350"/>
          </a:xfrm>
          <a:prstGeom prst="rect">
            <a:avLst/>
          </a:prstGeom>
        </p:spPr>
      </p:pic>
      <p:sp>
        <p:nvSpPr>
          <p:cNvPr id="309" name="tb_50"/>
          <p:cNvSpPr txBox="1"/>
          <p:nvPr/>
        </p:nvSpPr>
        <p:spPr>
          <a:xfrm>
            <a:off x="11324880" y="3366720"/>
            <a:ext cx="296640" cy="178560"/>
          </a:xfrm>
          <a:prstGeom prst="rect">
            <a:avLst/>
          </a:prstGeom>
          <a:noFill/>
          <a:ln w="0">
            <a:noFill/>
          </a:ln>
        </p:spPr>
        <p:txBody>
          <a:bodyPr lIns="7596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10" name="tb_51"/>
          <p:cNvSpPr txBox="1"/>
          <p:nvPr/>
        </p:nvSpPr>
        <p:spPr>
          <a:xfrm>
            <a:off x="6757560" y="3579120"/>
            <a:ext cx="1845720" cy="172800"/>
          </a:xfrm>
          <a:prstGeom prst="rect">
            <a:avLst/>
          </a:prstGeom>
          <a:noFill/>
          <a:ln w="0">
            <a:noFill/>
          </a:ln>
        </p:spPr>
        <p:txBody>
          <a:bodyPr lIns="0" tIns="0" rIns="95040" bIns="0" anchor="ctr">
            <a:noAutofit/>
          </a:bodyPr>
          <a:p>
            <a:pPr algn="r">
              <a:lnSpc>
                <a:spcPts val="1080"/>
              </a:lnSpc>
            </a:pP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Call Handling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11" name="vedas_native_shape_3_28"/>
          <p:cNvSpPr/>
          <p:nvPr/>
        </p:nvSpPr>
        <p:spPr>
          <a:xfrm>
            <a:off x="8567280" y="3580920"/>
            <a:ext cx="2757600" cy="1332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53" name="vedas_media_3_16"/>
          <p:cNvPicPr/>
          <p:nvPr/>
        </p:nvPicPr>
        <p:blipFill>
          <a:blip r:embed="rId17"/>
          <a:stretch>
            <a:fillRect/>
          </a:stretch>
        </p:blipFill>
        <p:spPr>
          <a:xfrm>
            <a:off x="8567440" y="3581102"/>
            <a:ext cx="1378893" cy="133350"/>
          </a:xfrm>
          <a:prstGeom prst="rect">
            <a:avLst/>
          </a:prstGeom>
        </p:spPr>
      </p:pic>
      <p:sp>
        <p:nvSpPr>
          <p:cNvPr id="313" name="tb_52"/>
          <p:cNvSpPr txBox="1"/>
          <p:nvPr/>
        </p:nvSpPr>
        <p:spPr>
          <a:xfrm>
            <a:off x="11324880" y="3576240"/>
            <a:ext cx="296640" cy="178560"/>
          </a:xfrm>
          <a:prstGeom prst="rect">
            <a:avLst/>
          </a:prstGeom>
          <a:noFill/>
          <a:ln w="0">
            <a:noFill/>
          </a:ln>
        </p:spPr>
        <p:txBody>
          <a:bodyPr lIns="7596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14" name="tb_53"/>
          <p:cNvSpPr txBox="1"/>
          <p:nvPr/>
        </p:nvSpPr>
        <p:spPr>
          <a:xfrm>
            <a:off x="6757560" y="3788640"/>
            <a:ext cx="1845720" cy="172800"/>
          </a:xfrm>
          <a:prstGeom prst="rect">
            <a:avLst/>
          </a:prstGeom>
          <a:noFill/>
          <a:ln w="0">
            <a:noFill/>
          </a:ln>
        </p:spPr>
        <p:txBody>
          <a:bodyPr lIns="0" tIns="0" rIns="95040" bIns="0" anchor="ctr">
            <a:noAutofit/>
          </a:bodyPr>
          <a:p>
            <a:pPr algn="r">
              <a:lnSpc>
                <a:spcPts val="1080"/>
              </a:lnSpc>
            </a:pP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Pathway Coordinators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15" name="vedas_native_shape_3_29"/>
          <p:cNvSpPr/>
          <p:nvPr/>
        </p:nvSpPr>
        <p:spPr>
          <a:xfrm>
            <a:off x="8567280" y="3790440"/>
            <a:ext cx="2757600" cy="1332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54" name="vedas_media_3_17"/>
          <p:cNvPicPr/>
          <p:nvPr/>
        </p:nvPicPr>
        <p:blipFill>
          <a:blip r:embed="rId18"/>
          <a:stretch>
            <a:fillRect/>
          </a:stretch>
        </p:blipFill>
        <p:spPr>
          <a:xfrm>
            <a:off x="8567440" y="3790652"/>
            <a:ext cx="689372" cy="133350"/>
          </a:xfrm>
          <a:prstGeom prst="rect">
            <a:avLst/>
          </a:prstGeom>
        </p:spPr>
      </p:pic>
      <p:sp>
        <p:nvSpPr>
          <p:cNvPr id="317" name="tb_54"/>
          <p:cNvSpPr txBox="1"/>
          <p:nvPr/>
        </p:nvSpPr>
        <p:spPr>
          <a:xfrm>
            <a:off x="11324880" y="3785760"/>
            <a:ext cx="296640" cy="178560"/>
          </a:xfrm>
          <a:prstGeom prst="rect">
            <a:avLst/>
          </a:prstGeom>
          <a:noFill/>
          <a:ln w="0">
            <a:noFill/>
          </a:ln>
        </p:spPr>
        <p:txBody>
          <a:bodyPr lIns="7596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18" name="tb_55"/>
          <p:cNvSpPr txBox="1"/>
          <p:nvPr/>
        </p:nvSpPr>
        <p:spPr>
          <a:xfrm>
            <a:off x="6757560" y="3998160"/>
            <a:ext cx="1845720" cy="172800"/>
          </a:xfrm>
          <a:prstGeom prst="rect">
            <a:avLst/>
          </a:prstGeom>
          <a:noFill/>
          <a:ln w="0">
            <a:noFill/>
          </a:ln>
        </p:spPr>
        <p:txBody>
          <a:bodyPr lIns="0" tIns="0" rIns="95040" bIns="0" anchor="ctr">
            <a:noAutofit/>
          </a:bodyPr>
          <a:p>
            <a:pPr algn="r">
              <a:lnSpc>
                <a:spcPts val="1080"/>
              </a:lnSpc>
            </a:pP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Administrative Management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19" name="vedas_native_shape_3_30"/>
          <p:cNvSpPr/>
          <p:nvPr/>
        </p:nvSpPr>
        <p:spPr>
          <a:xfrm>
            <a:off x="8567280" y="3999960"/>
            <a:ext cx="2757600" cy="1332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55" name="vedas_media_3_18"/>
          <p:cNvPicPr/>
          <p:nvPr/>
        </p:nvPicPr>
        <p:blipFill>
          <a:blip r:embed="rId19"/>
          <a:stretch>
            <a:fillRect/>
          </a:stretch>
        </p:blipFill>
        <p:spPr>
          <a:xfrm>
            <a:off x="8567440" y="4000202"/>
            <a:ext cx="689372" cy="133350"/>
          </a:xfrm>
          <a:prstGeom prst="rect">
            <a:avLst/>
          </a:prstGeom>
        </p:spPr>
      </p:pic>
      <p:sp>
        <p:nvSpPr>
          <p:cNvPr id="321" name="tb_56"/>
          <p:cNvSpPr txBox="1"/>
          <p:nvPr/>
        </p:nvSpPr>
        <p:spPr>
          <a:xfrm>
            <a:off x="11324880" y="3995280"/>
            <a:ext cx="296640" cy="178560"/>
          </a:xfrm>
          <a:prstGeom prst="rect">
            <a:avLst/>
          </a:prstGeom>
          <a:noFill/>
          <a:ln w="0">
            <a:noFill/>
          </a:ln>
        </p:spPr>
        <p:txBody>
          <a:bodyPr lIns="7596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22" name="tb_57"/>
          <p:cNvSpPr txBox="1"/>
          <p:nvPr/>
        </p:nvSpPr>
        <p:spPr>
          <a:xfrm>
            <a:off x="6757560" y="4207680"/>
            <a:ext cx="1845720" cy="172800"/>
          </a:xfrm>
          <a:prstGeom prst="rect">
            <a:avLst/>
          </a:prstGeom>
          <a:noFill/>
          <a:ln w="0">
            <a:noFill/>
          </a:ln>
        </p:spPr>
        <p:txBody>
          <a:bodyPr lIns="0" tIns="0" rIns="95040" bIns="0" anchor="ctr">
            <a:noAutofit/>
          </a:bodyPr>
          <a:p>
            <a:pPr algn="r">
              <a:lnSpc>
                <a:spcPts val="1080"/>
              </a:lnSpc>
            </a:pP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CNS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23" name="vedas_native_shape_3_31"/>
          <p:cNvSpPr/>
          <p:nvPr/>
        </p:nvSpPr>
        <p:spPr>
          <a:xfrm>
            <a:off x="8567280" y="4209480"/>
            <a:ext cx="2757600" cy="133200"/>
          </a:xfrm>
          <a:prstGeom prst="roundRect">
            <a:avLst>
              <a:gd name="adj" fmla="val 21429"/>
            </a:avLst>
          </a:prstGeom>
          <a:solidFill>
            <a:srgbClr val="EEF1F6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56" name="vedas_media_3_19"/>
          <p:cNvPicPr/>
          <p:nvPr/>
        </p:nvPicPr>
        <p:blipFill>
          <a:blip r:embed="rId20"/>
          <a:stretch>
            <a:fillRect/>
          </a:stretch>
        </p:blipFill>
        <p:spPr>
          <a:xfrm>
            <a:off x="8567440" y="4209752"/>
            <a:ext cx="344686" cy="133350"/>
          </a:xfrm>
          <a:prstGeom prst="rect">
            <a:avLst/>
          </a:prstGeom>
        </p:spPr>
      </p:pic>
      <p:sp>
        <p:nvSpPr>
          <p:cNvPr id="325" name="tb_58"/>
          <p:cNvSpPr txBox="1"/>
          <p:nvPr/>
        </p:nvSpPr>
        <p:spPr>
          <a:xfrm>
            <a:off x="11324880" y="4204800"/>
            <a:ext cx="296640" cy="178560"/>
          </a:xfrm>
          <a:prstGeom prst="rect">
            <a:avLst/>
          </a:prstGeom>
          <a:noFill/>
          <a:ln w="0">
            <a:noFill/>
          </a:ln>
        </p:spPr>
        <p:txBody>
          <a:bodyPr lIns="7596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57" name="vedas_media_3_20"/>
          <p:cNvPicPr/>
          <p:nvPr/>
        </p:nvPicPr>
        <p:blipFill>
          <a:blip r:embed="rId21"/>
          <a:stretch>
            <a:fillRect/>
          </a:stretch>
        </p:blipFill>
        <p:spPr>
          <a:xfrm>
            <a:off x="6557665" y="4585990"/>
            <a:ext cx="5215235" cy="1733996"/>
          </a:xfrm>
          <a:prstGeom prst="rect">
            <a:avLst/>
          </a:prstGeom>
        </p:spPr>
      </p:pic>
      <p:sp>
        <p:nvSpPr>
          <p:cNvPr id="327" name="vedas_native_shape_3_32"/>
          <p:cNvSpPr/>
          <p:nvPr/>
        </p:nvSpPr>
        <p:spPr>
          <a:xfrm>
            <a:off x="6757560" y="4771440"/>
            <a:ext cx="37800" cy="15228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28" name="tb_59"/>
          <p:cNvSpPr txBox="1"/>
          <p:nvPr/>
        </p:nvSpPr>
        <p:spPr>
          <a:xfrm>
            <a:off x="6871680" y="4766760"/>
            <a:ext cx="3211200" cy="19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60"/>
              </a:lnSpc>
            </a:pPr>
            <a:r>
              <a:rPr lang="en-US" sz="1050" b="1" u="none" strike="noStrike" spc="60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WORKERS &amp; JOB SUBSCRIPTIONS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29" name="tb_60"/>
          <p:cNvSpPr txBox="1"/>
          <p:nvPr/>
        </p:nvSpPr>
        <p:spPr>
          <a:xfrm>
            <a:off x="6757560" y="5023800"/>
            <a:ext cx="304920" cy="31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2160"/>
              </a:lnSpc>
            </a:pPr>
            <a:r>
              <a:rPr lang="en-US" sz="18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36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30" name="tb_61"/>
          <p:cNvSpPr txBox="1"/>
          <p:nvPr/>
        </p:nvSpPr>
        <p:spPr>
          <a:xfrm>
            <a:off x="7107120" y="5109840"/>
            <a:ext cx="4554720" cy="3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360"/>
              </a:lnSpc>
            </a:pPr>
            <a:r>
              <a:rPr lang="en-US" sz="940" b="1" u="none" strike="noStrike">
                <a:solidFill>
                  <a:srgbClr val="4B5563"/>
                </a:solidFill>
                <a:effectLst/>
                <a:uFillTx/>
                <a:latin typeface="Segoe UI"/>
                <a:ea typeface="Segoe UI"/>
              </a:rPr>
              <a:t>Java worker classes</a:t>
            </a:r>
            <a:r>
              <a:rPr lang="en-US" sz="940" b="0" u="none" strike="noStrike">
                <a:solidFill>
                  <a:srgbClr val="4B5563"/>
                </a:solidFill>
                <a:effectLst/>
                <a:uFillTx/>
                <a:latin typeface="Segoe UI"/>
                <a:ea typeface="Segoe UI"/>
              </a:rPr>
              <a:t> with </a:t>
            </a:r>
            <a:r>
              <a:rPr lang="en-US" sz="940" b="1" u="none" strike="noStrike">
                <a:solidFill>
                  <a:srgbClr val="4B5563"/>
                </a:solidFill>
                <a:effectLst/>
                <a:uFillTx/>
                <a:latin typeface="Segoe UI"/>
                <a:ea typeface="Segoe UI"/>
              </a:rPr>
              <a:t>37 job-type subscriptions</a:t>
            </a:r>
            <a:r>
              <a:rPr lang="en-US" sz="940" b="0" u="none" strike="noStrike">
                <a:solidFill>
                  <a:srgbClr val="4B5563"/>
                </a:solidFill>
                <a:effectLst/>
                <a:uFillTx/>
                <a:latin typeface="Segoe UI"/>
                <a:ea typeface="Segoe UI"/>
              </a:rPr>
              <a:t> covering </a:t>
            </a:r>
            <a:r>
              <a:rPr lang="en-US" sz="940" b="1" u="none" strike="noStrike">
                <a:solidFill>
                  <a:srgbClr val="4B5563"/>
                </a:solidFill>
                <a:effectLst/>
                <a:uFillTx/>
                <a:latin typeface="Segoe UI"/>
                <a:ea typeface="Segoe UI"/>
              </a:rPr>
              <a:t>36 job types</a:t>
            </a:r>
            <a:r>
              <a:rPr lang="en-US" sz="940" b="0" u="none" strike="noStrike">
                <a:solidFill>
                  <a:srgbClr val="4B5563"/>
                </a:solidFill>
                <a:effectLst/>
                <a:uFillTx/>
                <a:latin typeface="Segoe UI"/>
                <a:ea typeface="Segoe UI"/>
              </a:rPr>
              <a:t> — 35 business jobs plus </a:t>
            </a:r>
            <a:r>
              <a:rPr lang="en-US" sz="860" b="0" u="none" strike="noStrike">
                <a:solidFill>
                  <a:srgbClr val="2E6FB7"/>
                </a:solidFill>
                <a:effectLst/>
                <a:uFillTx/>
                <a:latin typeface="Consolas"/>
                <a:ea typeface="Consolas"/>
              </a:rPr>
              <a:t>1 publish-message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31" name="矩形 330"/>
          <p:cNvSpPr/>
          <p:nvPr/>
        </p:nvSpPr>
        <p:spPr>
          <a:xfrm>
            <a:off x="6757560" y="5583960"/>
            <a:ext cx="4815000" cy="9360"/>
          </a:xfrm>
          <a:prstGeom prst="rect">
            <a:avLst/>
          </a:prstGeom>
          <a:solidFill>
            <a:srgbClr val="E3E6EC"/>
          </a:solidFill>
          <a:ln w="0">
            <a:noFill/>
          </a:ln>
        </p:spPr>
        <p:txBody>
          <a:bodyPr lIns="90000" tIns="-35640" rIns="90000" bIns="-356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32" name="tb_62"/>
          <p:cNvSpPr txBox="1"/>
          <p:nvPr/>
        </p:nvSpPr>
        <p:spPr>
          <a:xfrm>
            <a:off x="6757560" y="5707800"/>
            <a:ext cx="152280" cy="31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2160"/>
              </a:lnSpc>
            </a:pPr>
            <a:r>
              <a:rPr lang="en-US" sz="18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33" name="tb_63"/>
          <p:cNvSpPr txBox="1"/>
          <p:nvPr/>
        </p:nvSpPr>
        <p:spPr>
          <a:xfrm>
            <a:off x="6980040" y="5793480"/>
            <a:ext cx="4684320" cy="3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360"/>
              </a:lnSpc>
            </a:pPr>
            <a:r>
              <a:rPr lang="en-US" sz="940" b="1" u="none" strike="noStrike">
                <a:solidFill>
                  <a:srgbClr val="4B5563"/>
                </a:solidFill>
                <a:effectLst/>
                <a:uFillTx/>
                <a:latin typeface="Segoe UI"/>
                <a:ea typeface="Segoe UI"/>
              </a:rPr>
              <a:t>Forms reused</a:t>
            </a:r>
            <a:r>
              <a:rPr lang="en-US" sz="940" b="0" u="none" strike="noStrike">
                <a:solidFill>
                  <a:srgbClr val="4B5563"/>
                </a:solidFill>
                <a:effectLst/>
                <a:uFillTx/>
                <a:latin typeface="Segoe UI"/>
                <a:ea typeface="Segoe UI"/>
              </a:rPr>
              <a:t> — the same Camunda Form is bound to multiple user tasks, so 36 forms serve 39 user tasks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358" name="vedas_media_3_21"/>
          <p:cNvPicPr/>
          <p:nvPr/>
        </p:nvPicPr>
        <p:blipFill>
          <a:blip r:embed="rId22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335" name="tb_64"/>
          <p:cNvSpPr txBox="1"/>
          <p:nvPr/>
        </p:nvSpPr>
        <p:spPr>
          <a:xfrm>
            <a:off x="457200" y="6591240"/>
            <a:ext cx="4366440" cy="15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35"/>
              </a:lnSpc>
            </a:pPr>
            <a:r>
              <a:rPr lang="en-US" sz="860" b="0" u="none" strike="noStrike" spc="20">
                <a:solidFill>
                  <a:srgbClr val="9CA3AF"/>
                </a:solidFill>
                <a:effectLst/>
                <a:uFillTx/>
                <a:latin typeface="Segoe UI"/>
                <a:ea typeface="Segoe UI"/>
              </a:rPr>
              <a:t>UFCEP-0-3 · Hospital Patient Pathway v14 — Course Assignment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36" name="tb_65"/>
          <p:cNvSpPr txBox="1"/>
          <p:nvPr/>
        </p:nvSpPr>
        <p:spPr>
          <a:xfrm>
            <a:off x="11501640" y="6581520"/>
            <a:ext cx="279360" cy="17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4 / 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vedas_media_4_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57150"/>
          </a:xfrm>
          <a:prstGeom prst="rect">
            <a:avLst/>
          </a:prstGeom>
        </p:spPr>
      </p:pic>
      <p:pic>
        <p:nvPicPr>
          <p:cNvPr id="429" name="vedas_media_4_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57150"/>
            <a:ext cx="12192000" cy="845344"/>
          </a:xfrm>
          <a:prstGeom prst="rect">
            <a:avLst/>
          </a:prstGeom>
        </p:spPr>
      </p:pic>
      <p:sp>
        <p:nvSpPr>
          <p:cNvPr id="340" name="tb_0"/>
          <p:cNvSpPr txBox="1"/>
          <p:nvPr/>
        </p:nvSpPr>
        <p:spPr>
          <a:xfrm>
            <a:off x="533160" y="190440"/>
            <a:ext cx="14218560" cy="15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990"/>
              </a:lnSpc>
            </a:pPr>
            <a:r>
              <a:rPr lang="en-US" sz="820" b="1" u="none" strike="noStrike" spc="147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PROCESS AUTOMATION · ZEEBE / CAMUNDA 8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41" name="tb_1"/>
          <p:cNvSpPr txBox="1"/>
          <p:nvPr/>
        </p:nvSpPr>
        <p:spPr>
          <a:xfrm>
            <a:off x="533160" y="352080"/>
            <a:ext cx="13349880" cy="3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2155"/>
              </a:lnSpc>
            </a:pPr>
            <a:r>
              <a:rPr lang="en-US" sz="188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Service Task &amp; Gateway Implementation</a:t>
            </a:r>
            <a:endParaRPr lang="en-US" sz="188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42" name="tb_2"/>
          <p:cNvSpPr txBox="1"/>
          <p:nvPr/>
        </p:nvSpPr>
        <p:spPr>
          <a:xfrm>
            <a:off x="533160" y="654840"/>
            <a:ext cx="13349880" cy="17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125"/>
              </a:lnSpc>
            </a:pPr>
            <a:r>
              <a:rPr lang="en-US" sz="94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How the Hospital Patient Pathway model executes work — external task workers, error handling, compensation, and routing logic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43" name="vedas_native_shape_4_0"/>
          <p:cNvSpPr/>
          <p:nvPr/>
        </p:nvSpPr>
        <p:spPr>
          <a:xfrm>
            <a:off x="533160" y="1016640"/>
            <a:ext cx="209520" cy="209520"/>
          </a:xfrm>
          <a:prstGeom prst="roundRect">
            <a:avLst>
              <a:gd name="adj" fmla="val 22727"/>
            </a:avLst>
          </a:prstGeom>
          <a:solidFill>
            <a:srgbClr val="1F3A5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44" name="tb_3"/>
          <p:cNvSpPr txBox="1"/>
          <p:nvPr/>
        </p:nvSpPr>
        <p:spPr>
          <a:xfrm>
            <a:off x="533160" y="1016640"/>
            <a:ext cx="213480" cy="24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08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45" name="tb_4"/>
          <p:cNvSpPr txBox="1"/>
          <p:nvPr/>
        </p:nvSpPr>
        <p:spPr>
          <a:xfrm>
            <a:off x="838080" y="1031040"/>
            <a:ext cx="33458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440"/>
              </a:lnSpc>
            </a:pPr>
            <a:r>
              <a:rPr lang="en-US" sz="12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Service Tasks — Zeebe External Tasks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430" name="vedas_media_4_2"/>
          <p:cNvPicPr/>
          <p:nvPr/>
        </p:nvPicPr>
        <p:blipFill>
          <a:blip r:embed="rId3"/>
          <a:stretch>
            <a:fillRect/>
          </a:stretch>
        </p:blipFill>
        <p:spPr>
          <a:xfrm>
            <a:off x="495300" y="1264444"/>
            <a:ext cx="5543550" cy="1563588"/>
          </a:xfrm>
          <a:prstGeom prst="rect">
            <a:avLst/>
          </a:prstGeom>
        </p:spPr>
      </p:pic>
      <p:sp>
        <p:nvSpPr>
          <p:cNvPr id="347" name="tb_5"/>
          <p:cNvSpPr txBox="1"/>
          <p:nvPr/>
        </p:nvSpPr>
        <p:spPr>
          <a:xfrm>
            <a:off x="637920" y="1388160"/>
            <a:ext cx="6528600" cy="15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900"/>
              </a:lnSpc>
            </a:pPr>
            <a:r>
              <a:rPr lang="en-US" sz="750" b="1" u="none" strike="noStrike" spc="88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WORKER LIFECYCLE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431" name="vedas_svg_native_4_3"/>
          <p:cNvPicPr/>
          <p:nvPr/>
        </p:nvPicPr>
        <p:blipFill>
          <a:blip r:embed="rId4"/>
          <a:stretch>
            <a:fillRect/>
          </a:stretch>
        </p:blipFill>
        <p:spPr>
          <a:xfrm>
            <a:off x="666243" y="1699850"/>
            <a:ext cx="4883750" cy="930490"/>
          </a:xfrm>
          <a:prstGeom prst="rect">
            <a:avLst/>
          </a:prstGeom>
        </p:spPr>
      </p:pic>
      <p:pic>
        <p:nvPicPr>
          <p:cNvPr id="432" name="vedas_media_4_4"/>
          <p:cNvPicPr/>
          <p:nvPr/>
        </p:nvPicPr>
        <p:blipFill>
          <a:blip r:embed="rId5"/>
          <a:stretch>
            <a:fillRect/>
          </a:stretch>
        </p:blipFill>
        <p:spPr>
          <a:xfrm>
            <a:off x="495300" y="2828032"/>
            <a:ext cx="5543550" cy="1181249"/>
          </a:xfrm>
          <a:prstGeom prst="rect">
            <a:avLst/>
          </a:prstGeom>
        </p:spPr>
      </p:pic>
      <p:sp>
        <p:nvSpPr>
          <p:cNvPr id="350" name="tb_6"/>
          <p:cNvSpPr txBox="1"/>
          <p:nvPr/>
        </p:nvSpPr>
        <p:spPr>
          <a:xfrm>
            <a:off x="657000" y="2961360"/>
            <a:ext cx="6729480" cy="15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900"/>
              </a:lnSpc>
            </a:pPr>
            <a:r>
              <a:rPr lang="en-US" sz="750" b="1" u="none" strike="noStrike" spc="88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TASK DEFINITION &amp; VARIABLE MAPPING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51" name="tb_7"/>
          <p:cNvSpPr txBox="1"/>
          <p:nvPr/>
        </p:nvSpPr>
        <p:spPr>
          <a:xfrm>
            <a:off x="657000" y="3113640"/>
            <a:ext cx="6263280" cy="20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50"/>
              </a:lnSpc>
            </a:pP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Service tasks uniformly use Zeebe external tasks: </a:t>
            </a: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Consolas"/>
                <a:ea typeface="Consolas"/>
              </a:rPr>
              <a:t>taskDefinition type</a:t>
            </a: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= job type.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52" name="vedas_native_shape_4_1"/>
          <p:cNvSpPr/>
          <p:nvPr/>
        </p:nvSpPr>
        <p:spPr>
          <a:xfrm>
            <a:off x="657000" y="3348720"/>
            <a:ext cx="2240640" cy="152280"/>
          </a:xfrm>
          <a:prstGeom prst="roundRect">
            <a:avLst>
              <a:gd name="adj" fmla="val 25000"/>
            </a:avLst>
          </a:prstGeom>
          <a:solidFill>
            <a:srgbClr val="EEF2F7"/>
          </a:solidFill>
          <a:ln w="9360">
            <a:solidFill>
              <a:srgbClr val="D6DEE8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53" name="tb_8"/>
          <p:cNvSpPr txBox="1"/>
          <p:nvPr/>
        </p:nvSpPr>
        <p:spPr>
          <a:xfrm>
            <a:off x="657000" y="3348720"/>
            <a:ext cx="2688480" cy="188280"/>
          </a:xfrm>
          <a:prstGeom prst="rect">
            <a:avLst/>
          </a:prstGeom>
          <a:noFill/>
          <a:ln w="0">
            <a:noFill/>
          </a:ln>
        </p:spPr>
        <p:txBody>
          <a:bodyPr lIns="56880" tIns="9360" rIns="56880" bIns="9360" anchor="ctr">
            <a:noAutofit/>
          </a:bodyPr>
          <a:p>
            <a:pPr>
              <a:lnSpc>
                <a:spcPts val="945"/>
              </a:lnSpc>
            </a:pPr>
            <a:r>
              <a:rPr lang="en-US" sz="790" b="0" u="none" strike="noStrike">
                <a:solidFill>
                  <a:srgbClr val="1F3A5F"/>
                </a:solidFill>
                <a:effectLst/>
                <a:uFillTx/>
                <a:latin typeface="Consolas"/>
                <a:ea typeface="Consolas"/>
              </a:rPr>
              <a:t>referral.check-supporting-documents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54" name="vedas_native_shape_4_2"/>
          <p:cNvSpPr/>
          <p:nvPr/>
        </p:nvSpPr>
        <p:spPr>
          <a:xfrm>
            <a:off x="2968920" y="3348720"/>
            <a:ext cx="1578240" cy="152280"/>
          </a:xfrm>
          <a:prstGeom prst="roundRect">
            <a:avLst>
              <a:gd name="adj" fmla="val 25000"/>
            </a:avLst>
          </a:prstGeom>
          <a:solidFill>
            <a:srgbClr val="EEF2F7"/>
          </a:solidFill>
          <a:ln w="9360">
            <a:solidFill>
              <a:srgbClr val="D6DEE8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55" name="tb_9"/>
          <p:cNvSpPr txBox="1"/>
          <p:nvPr/>
        </p:nvSpPr>
        <p:spPr>
          <a:xfrm>
            <a:off x="2968920" y="3348720"/>
            <a:ext cx="1893600" cy="188280"/>
          </a:xfrm>
          <a:prstGeom prst="rect">
            <a:avLst/>
          </a:prstGeom>
          <a:noFill/>
          <a:ln w="0">
            <a:noFill/>
          </a:ln>
        </p:spPr>
        <p:txBody>
          <a:bodyPr lIns="56880" tIns="9360" rIns="56880" bIns="9360" anchor="ctr">
            <a:noAutofit/>
          </a:bodyPr>
          <a:p>
            <a:pPr>
              <a:lnSpc>
                <a:spcPts val="945"/>
              </a:lnSpc>
            </a:pPr>
            <a:r>
              <a:rPr lang="en-US" sz="790" b="0" u="none" strike="noStrike">
                <a:solidFill>
                  <a:srgbClr val="1F3A5F"/>
                </a:solidFill>
                <a:effectLst/>
                <a:uFillTx/>
                <a:latin typeface="Consolas"/>
                <a:ea typeface="Consolas"/>
              </a:rPr>
              <a:t>finance.calculate-charge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56" name="tb_10"/>
          <p:cNvSpPr txBox="1"/>
          <p:nvPr/>
        </p:nvSpPr>
        <p:spPr>
          <a:xfrm>
            <a:off x="657000" y="3548520"/>
            <a:ext cx="5323680" cy="31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250"/>
              </a:lnSpc>
            </a:pP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Workers long-poll subscribe to the job type → execute → </a:t>
            </a:r>
            <a:r>
              <a:rPr lang="en-US" sz="860" b="1" u="none" strike="noStrike">
                <a:solidFill>
                  <a:srgbClr val="1F4E85"/>
                </a:solidFill>
                <a:effectLst/>
                <a:uFillTx/>
                <a:latin typeface="Segoe UI"/>
                <a:ea typeface="Segoe UI"/>
              </a:rPr>
              <a:t>Complete / Fail</a:t>
            </a: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; </a:t>
            </a: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Consolas"/>
                <a:ea typeface="Consolas"/>
              </a:rPr>
              <a:t>ioMapping</a:t>
            </a: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maps process variables in / out.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433" name="vedas_media_4_5"/>
          <p:cNvPicPr/>
          <p:nvPr/>
        </p:nvPicPr>
        <p:blipFill>
          <a:blip r:embed="rId6"/>
          <a:stretch>
            <a:fillRect/>
          </a:stretch>
        </p:blipFill>
        <p:spPr>
          <a:xfrm>
            <a:off x="495300" y="4009281"/>
            <a:ext cx="5543550" cy="936724"/>
          </a:xfrm>
          <a:prstGeom prst="rect">
            <a:avLst/>
          </a:prstGeom>
        </p:spPr>
      </p:pic>
      <p:sp>
        <p:nvSpPr>
          <p:cNvPr id="358" name="tb_11"/>
          <p:cNvSpPr txBox="1"/>
          <p:nvPr/>
        </p:nvSpPr>
        <p:spPr>
          <a:xfrm>
            <a:off x="657000" y="4142520"/>
            <a:ext cx="6647400" cy="15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900"/>
              </a:lnSpc>
            </a:pPr>
            <a:r>
              <a:rPr lang="en-US" sz="750" b="1" u="none" strike="noStrike" spc="88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EXCEPTION PATH — BPMN ERRORS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59" name="tb_12"/>
          <p:cNvSpPr txBox="1"/>
          <p:nvPr/>
        </p:nvSpPr>
        <p:spPr>
          <a:xfrm>
            <a:off x="657000" y="4294800"/>
            <a:ext cx="5323680" cy="31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250"/>
              </a:lnSpc>
            </a:pP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Worker throws a BPMN error, caught by boundary events → exception branch. </a:t>
            </a:r>
            <a:r>
              <a:rPr lang="en-US" sz="860" b="1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9 named error codes</a:t>
            </a: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, e.g.: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60" name="vedas_native_shape_4_3"/>
          <p:cNvSpPr/>
          <p:nvPr/>
        </p:nvSpPr>
        <p:spPr>
          <a:xfrm>
            <a:off x="657000" y="4650480"/>
            <a:ext cx="1578240" cy="152280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9360">
            <a:solidFill>
              <a:srgbClr val="F0D9AE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61" name="tb_13"/>
          <p:cNvSpPr txBox="1"/>
          <p:nvPr/>
        </p:nvSpPr>
        <p:spPr>
          <a:xfrm>
            <a:off x="657000" y="4650480"/>
            <a:ext cx="1893600" cy="188280"/>
          </a:xfrm>
          <a:prstGeom prst="rect">
            <a:avLst/>
          </a:prstGeom>
          <a:noFill/>
          <a:ln w="0">
            <a:noFill/>
          </a:ln>
        </p:spPr>
        <p:txBody>
          <a:bodyPr lIns="56880" tIns="9360" rIns="56880" bIns="9360" anchor="ctr">
            <a:noAutofit/>
          </a:bodyPr>
          <a:p>
            <a:pPr>
              <a:lnSpc>
                <a:spcPts val="945"/>
              </a:lnSpc>
            </a:pPr>
            <a:r>
              <a:rPr lang="en-US" sz="790" b="0" u="none" strike="noStrike">
                <a:solidFill>
                  <a:srgbClr val="9C6A14"/>
                </a:solidFill>
                <a:effectLst/>
                <a:uFillTx/>
                <a:latin typeface="Consolas"/>
                <a:ea typeface="Consolas"/>
              </a:rPr>
              <a:t>REFERRAL_PACK_UNREADABLE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62" name="vedas_native_shape_4_4"/>
          <p:cNvSpPr/>
          <p:nvPr/>
        </p:nvSpPr>
        <p:spPr>
          <a:xfrm>
            <a:off x="2264040" y="4650480"/>
            <a:ext cx="1638720" cy="152280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9360">
            <a:solidFill>
              <a:srgbClr val="F0D9AE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63" name="tb_14"/>
          <p:cNvSpPr txBox="1"/>
          <p:nvPr/>
        </p:nvSpPr>
        <p:spPr>
          <a:xfrm>
            <a:off x="2264040" y="4650480"/>
            <a:ext cx="1966320" cy="188280"/>
          </a:xfrm>
          <a:prstGeom prst="rect">
            <a:avLst/>
          </a:prstGeom>
          <a:noFill/>
          <a:ln w="0">
            <a:noFill/>
          </a:ln>
        </p:spPr>
        <p:txBody>
          <a:bodyPr lIns="56880" tIns="9360" rIns="56880" bIns="9360" anchor="ctr">
            <a:noAutofit/>
          </a:bodyPr>
          <a:p>
            <a:pPr>
              <a:lnSpc>
                <a:spcPts val="945"/>
              </a:lnSpc>
            </a:pPr>
            <a:r>
              <a:rPr lang="en-US" sz="790" b="0" u="none" strike="noStrike">
                <a:solidFill>
                  <a:srgbClr val="9C6A14"/>
                </a:solidFill>
                <a:effectLst/>
                <a:uFillTx/>
                <a:latin typeface="Consolas"/>
                <a:ea typeface="Consolas"/>
              </a:rPr>
              <a:t>PAYMENT_CONFIRMATION_LOST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64" name="vedas_native_shape_4_5"/>
          <p:cNvSpPr/>
          <p:nvPr/>
        </p:nvSpPr>
        <p:spPr>
          <a:xfrm>
            <a:off x="3931560" y="4650480"/>
            <a:ext cx="675360" cy="152280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9360">
            <a:solidFill>
              <a:srgbClr val="F0D9AE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65" name="tb_15"/>
          <p:cNvSpPr txBox="1"/>
          <p:nvPr/>
        </p:nvSpPr>
        <p:spPr>
          <a:xfrm>
            <a:off x="3931560" y="4650480"/>
            <a:ext cx="810360" cy="188280"/>
          </a:xfrm>
          <a:prstGeom prst="rect">
            <a:avLst/>
          </a:prstGeom>
          <a:noFill/>
          <a:ln w="0">
            <a:noFill/>
          </a:ln>
        </p:spPr>
        <p:txBody>
          <a:bodyPr lIns="56880" tIns="9360" rIns="56880" bIns="9360" anchor="ctr">
            <a:noAutofit/>
          </a:bodyPr>
          <a:p>
            <a:pPr>
              <a:lnSpc>
                <a:spcPts val="945"/>
              </a:lnSpc>
            </a:pPr>
            <a:r>
              <a:rPr lang="en-US" sz="790" b="0" u="none" strike="noStrike">
                <a:solidFill>
                  <a:srgbClr val="9C6A14"/>
                </a:solidFill>
                <a:effectLst/>
                <a:uFillTx/>
                <a:latin typeface="Consolas"/>
                <a:ea typeface="Consolas"/>
              </a:rPr>
              <a:t>… +7 more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434" name="vedas_media_4_6"/>
          <p:cNvPicPr/>
          <p:nvPr/>
        </p:nvPicPr>
        <p:blipFill>
          <a:blip r:embed="rId7"/>
          <a:stretch>
            <a:fillRect/>
          </a:stretch>
        </p:blipFill>
        <p:spPr>
          <a:xfrm>
            <a:off x="495300" y="4946005"/>
            <a:ext cx="5543550" cy="1117699"/>
          </a:xfrm>
          <a:prstGeom prst="rect">
            <a:avLst/>
          </a:prstGeom>
        </p:spPr>
      </p:pic>
      <p:sp>
        <p:nvSpPr>
          <p:cNvPr id="367" name="tb_16"/>
          <p:cNvSpPr txBox="1"/>
          <p:nvPr/>
        </p:nvSpPr>
        <p:spPr>
          <a:xfrm>
            <a:off x="657000" y="5079240"/>
            <a:ext cx="6537600" cy="15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900"/>
              </a:lnSpc>
            </a:pPr>
            <a:r>
              <a:rPr lang="en-US" sz="750" b="1" u="none" strike="noStrike" spc="88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RETRY &amp; COMPENSATION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68" name="vedas_native_shape_4_6"/>
          <p:cNvSpPr/>
          <p:nvPr/>
        </p:nvSpPr>
        <p:spPr>
          <a:xfrm>
            <a:off x="657000" y="5255280"/>
            <a:ext cx="75960" cy="75960"/>
          </a:xfrm>
          <a:prstGeom prst="roundRect">
            <a:avLst>
              <a:gd name="adj" fmla="val 25000"/>
            </a:avLst>
          </a:prstGeom>
          <a:solidFill>
            <a:srgbClr val="E8A33D"/>
          </a:solidFill>
          <a:ln w="0">
            <a:noFill/>
          </a:ln>
        </p:spPr>
        <p:txBody>
          <a:bodyPr lIns="90000" tIns="30960" rIns="90000" bIns="3096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69" name="tb_17"/>
          <p:cNvSpPr txBox="1"/>
          <p:nvPr/>
        </p:nvSpPr>
        <p:spPr>
          <a:xfrm>
            <a:off x="790560" y="5231520"/>
            <a:ext cx="751680" cy="15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35"/>
              </a:lnSpc>
            </a:pPr>
            <a:r>
              <a:rPr lang="en-US" sz="86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Retry Policy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70" name="tb_18"/>
          <p:cNvSpPr txBox="1"/>
          <p:nvPr/>
        </p:nvSpPr>
        <p:spPr>
          <a:xfrm>
            <a:off x="657000" y="5383800"/>
            <a:ext cx="3074400" cy="19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50"/>
              </a:lnSpc>
            </a:pP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External capacity retries </a:t>
            </a:r>
            <a:r>
              <a:rPr lang="en-US" sz="86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up to 3 times</a:t>
            </a: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71" name="vedas_native_shape_4_7"/>
          <p:cNvSpPr/>
          <p:nvPr/>
        </p:nvSpPr>
        <p:spPr>
          <a:xfrm>
            <a:off x="3314520" y="5255280"/>
            <a:ext cx="75960" cy="75960"/>
          </a:xfrm>
          <a:prstGeom prst="roundRect">
            <a:avLst>
              <a:gd name="adj" fmla="val 25000"/>
            </a:avLst>
          </a:prstGeom>
          <a:solidFill>
            <a:srgbClr val="1F3A5F"/>
          </a:solidFill>
          <a:ln w="0">
            <a:noFill/>
          </a:ln>
        </p:spPr>
        <p:txBody>
          <a:bodyPr lIns="90000" tIns="30960" rIns="90000" bIns="3096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72" name="tb_19"/>
          <p:cNvSpPr txBox="1"/>
          <p:nvPr/>
        </p:nvSpPr>
        <p:spPr>
          <a:xfrm>
            <a:off x="3447720" y="5231520"/>
            <a:ext cx="914760" cy="15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35"/>
              </a:lnSpc>
            </a:pPr>
            <a:r>
              <a:rPr lang="en-US" sz="86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Compensation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73" name="tb_20"/>
          <p:cNvSpPr txBox="1"/>
          <p:nvPr/>
        </p:nvSpPr>
        <p:spPr>
          <a:xfrm>
            <a:off x="3314520" y="5383800"/>
            <a:ext cx="2613240" cy="31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250"/>
              </a:lnSpc>
            </a:pP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Exceeding the limit triggers compensation releasing </a:t>
            </a:r>
            <a:r>
              <a:rPr lang="en-US" sz="860" b="1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temp booking sequences</a:t>
            </a: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74" name="vedas_native_shape_4_8"/>
          <p:cNvSpPr/>
          <p:nvPr/>
        </p:nvSpPr>
        <p:spPr>
          <a:xfrm>
            <a:off x="657000" y="5768280"/>
            <a:ext cx="1939680" cy="152280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9360">
            <a:solidFill>
              <a:srgbClr val="C4D8EF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75" name="tb_21"/>
          <p:cNvSpPr txBox="1"/>
          <p:nvPr/>
        </p:nvSpPr>
        <p:spPr>
          <a:xfrm>
            <a:off x="657000" y="5768280"/>
            <a:ext cx="2327400" cy="188280"/>
          </a:xfrm>
          <a:prstGeom prst="rect">
            <a:avLst/>
          </a:prstGeom>
          <a:noFill/>
          <a:ln w="0">
            <a:noFill/>
          </a:ln>
        </p:spPr>
        <p:txBody>
          <a:bodyPr lIns="56880" tIns="9360" rIns="56880" bIns="9360" anchor="ctr">
            <a:noAutofit/>
          </a:bodyPr>
          <a:p>
            <a:pPr>
              <a:lnSpc>
                <a:spcPts val="945"/>
              </a:lnSpc>
            </a:pPr>
            <a:r>
              <a:rPr lang="en-US" sz="790" b="0" u="none" strike="noStrike">
                <a:solidFill>
                  <a:srgbClr val="1F4E85"/>
                </a:solidFill>
                <a:effectLst/>
                <a:uFillTx/>
                <a:latin typeface="Consolas"/>
                <a:ea typeface="Consolas"/>
              </a:rPr>
              <a:t>2 compensation boundary events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76" name="vedas_native_shape_4_9"/>
          <p:cNvSpPr/>
          <p:nvPr/>
        </p:nvSpPr>
        <p:spPr>
          <a:xfrm>
            <a:off x="2667960" y="5768280"/>
            <a:ext cx="1758960" cy="152280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9360">
            <a:solidFill>
              <a:srgbClr val="C4D8EF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77" name="tb_22"/>
          <p:cNvSpPr txBox="1"/>
          <p:nvPr/>
        </p:nvSpPr>
        <p:spPr>
          <a:xfrm>
            <a:off x="2667960" y="5768280"/>
            <a:ext cx="2110680" cy="188280"/>
          </a:xfrm>
          <a:prstGeom prst="rect">
            <a:avLst/>
          </a:prstGeom>
          <a:noFill/>
          <a:ln w="0">
            <a:noFill/>
          </a:ln>
        </p:spPr>
        <p:txBody>
          <a:bodyPr lIns="56880" tIns="9360" rIns="56880" bIns="9360" anchor="ctr">
            <a:noAutofit/>
          </a:bodyPr>
          <a:p>
            <a:pPr>
              <a:lnSpc>
                <a:spcPts val="945"/>
              </a:lnSpc>
            </a:pPr>
            <a:r>
              <a:rPr lang="en-US" sz="790" b="0" u="none" strike="noStrike">
                <a:solidFill>
                  <a:srgbClr val="1F4E85"/>
                </a:solidFill>
                <a:effectLst/>
                <a:uFillTx/>
                <a:latin typeface="Consolas"/>
                <a:ea typeface="Consolas"/>
              </a:rPr>
              <a:t>2 compensation throw events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78" name="vedas_native_shape_4_10"/>
          <p:cNvSpPr/>
          <p:nvPr/>
        </p:nvSpPr>
        <p:spPr>
          <a:xfrm>
            <a:off x="6190920" y="1016640"/>
            <a:ext cx="209520" cy="209520"/>
          </a:xfrm>
          <a:prstGeom prst="roundRect">
            <a:avLst>
              <a:gd name="adj" fmla="val 22727"/>
            </a:avLst>
          </a:prstGeom>
          <a:solidFill>
            <a:srgbClr val="2E6FB7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79" name="tb_23"/>
          <p:cNvSpPr txBox="1"/>
          <p:nvPr/>
        </p:nvSpPr>
        <p:spPr>
          <a:xfrm>
            <a:off x="6190920" y="1016640"/>
            <a:ext cx="213480" cy="24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08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80" name="tb_24"/>
          <p:cNvSpPr txBox="1"/>
          <p:nvPr/>
        </p:nvSpPr>
        <p:spPr>
          <a:xfrm>
            <a:off x="6495840" y="1031040"/>
            <a:ext cx="26852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440"/>
              </a:lnSpc>
            </a:pPr>
            <a:r>
              <a:rPr lang="en-US" sz="12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Gateways — 42 Routing Points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435" name="vedas_media_4_7"/>
          <p:cNvPicPr/>
          <p:nvPr/>
        </p:nvPicPr>
        <p:blipFill>
          <a:blip r:embed="rId8"/>
          <a:stretch>
            <a:fillRect/>
          </a:stretch>
        </p:blipFill>
        <p:spPr>
          <a:xfrm>
            <a:off x="6153150" y="1264444"/>
            <a:ext cx="1385888" cy="819150"/>
          </a:xfrm>
          <a:prstGeom prst="rect">
            <a:avLst/>
          </a:prstGeom>
        </p:spPr>
      </p:pic>
      <p:sp>
        <p:nvSpPr>
          <p:cNvPr id="420" name="Polygon 420"/>
          <p:cNvSpPr/>
          <p:nvPr/>
        </p:nvSpPr>
        <p:spPr>
          <a:xfrm>
            <a:off x="6747034" y="1393984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60" y="0"/>
                </a:moveTo>
                <a:lnTo>
                  <a:pt x="198120" y="99060"/>
                </a:lnTo>
                <a:lnTo>
                  <a:pt x="99060" y="198120"/>
                </a:lnTo>
                <a:lnTo>
                  <a:pt x="0" y="99060"/>
                </a:lnTo>
                <a:close/>
              </a:path>
            </a:pathLst>
          </a:custGeom>
          <a:noFill/>
          <a:ln w="15240" cap="flat">
            <a:solidFill>
              <a:srgbClr val="1F3A5F"/>
            </a:solidFill>
            <a:miter lim="800000"/>
          </a:ln>
        </p:spPr>
      </p:sp>
      <p:sp>
        <p:nvSpPr>
          <p:cNvPr id="421" name="TextBox 421"/>
          <p:cNvSpPr txBox="1"/>
          <p:nvPr/>
        </p:nvSpPr>
        <p:spPr>
          <a:xfrm>
            <a:off x="6819152" y="1465231"/>
            <a:ext cx="53883" cy="1076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540" b="1" dirty="0">
                <a:solidFill>
                  <a:srgbClr val="1F3A5F"/>
                </a:solidFill>
                <a:latin typeface="Consolas"/>
                <a:ea typeface="Consolas"/>
                <a:cs typeface="Consolas"/>
              </a:rPr>
              <a:t>X</a:t>
            </a:r>
            <a:endParaRPr lang="en-US" sz="540" b="1" dirty="0">
              <a:solidFill>
                <a:srgbClr val="1F3A5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83" name="tb_25"/>
          <p:cNvSpPr txBox="1"/>
          <p:nvPr/>
        </p:nvSpPr>
        <p:spPr>
          <a:xfrm>
            <a:off x="6257880" y="1626120"/>
            <a:ext cx="1199520" cy="23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575"/>
              </a:lnSpc>
            </a:pPr>
            <a:r>
              <a:rPr lang="en-US" sz="158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35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84" name="tb_26"/>
          <p:cNvSpPr txBox="1"/>
          <p:nvPr/>
        </p:nvSpPr>
        <p:spPr>
          <a:xfrm>
            <a:off x="6257880" y="1854720"/>
            <a:ext cx="1243080" cy="14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855"/>
              </a:lnSpc>
            </a:pPr>
            <a:r>
              <a:rPr lang="en-US" sz="710" b="1" u="none" strike="noStrike" spc="37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EXCLUSIVE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436" name="vedas_media_4_9"/>
          <p:cNvPicPr/>
          <p:nvPr/>
        </p:nvPicPr>
        <p:blipFill>
          <a:blip r:embed="rId9"/>
          <a:stretch>
            <a:fillRect/>
          </a:stretch>
        </p:blipFill>
        <p:spPr>
          <a:xfrm>
            <a:off x="7539038" y="1264444"/>
            <a:ext cx="1385888" cy="819150"/>
          </a:xfrm>
          <a:prstGeom prst="rect">
            <a:avLst/>
          </a:prstGeom>
        </p:spPr>
      </p:pic>
      <p:sp>
        <p:nvSpPr>
          <p:cNvPr id="422" name="Polygon 422"/>
          <p:cNvSpPr/>
          <p:nvPr/>
        </p:nvSpPr>
        <p:spPr>
          <a:xfrm>
            <a:off x="8132921" y="1393984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60" y="0"/>
                </a:moveTo>
                <a:lnTo>
                  <a:pt x="198120" y="99060"/>
                </a:lnTo>
                <a:lnTo>
                  <a:pt x="99060" y="198120"/>
                </a:lnTo>
                <a:lnTo>
                  <a:pt x="0" y="99060"/>
                </a:lnTo>
                <a:close/>
              </a:path>
            </a:pathLst>
          </a:custGeom>
          <a:noFill/>
          <a:ln w="15240" cap="flat">
            <a:solidFill>
              <a:srgbClr val="2E6FB7"/>
            </a:solidFill>
            <a:miter lim="800000"/>
          </a:ln>
        </p:spPr>
      </p:sp>
      <p:sp>
        <p:nvSpPr>
          <p:cNvPr id="423" name="Ellipse 423"/>
          <p:cNvSpPr/>
          <p:nvPr/>
        </p:nvSpPr>
        <p:spPr>
          <a:xfrm>
            <a:off x="8201501" y="1462564"/>
            <a:ext cx="60960" cy="60960"/>
          </a:xfrm>
          <a:prstGeom prst="ellipse">
            <a:avLst/>
          </a:prstGeom>
          <a:solidFill>
            <a:srgbClr val="2E6FB7"/>
          </a:solidFill>
          <a:ln>
            <a:noFill/>
          </a:ln>
        </p:spPr>
      </p:sp>
      <p:sp>
        <p:nvSpPr>
          <p:cNvPr id="387" name="tb_27"/>
          <p:cNvSpPr txBox="1"/>
          <p:nvPr/>
        </p:nvSpPr>
        <p:spPr>
          <a:xfrm>
            <a:off x="7643520" y="1626120"/>
            <a:ext cx="1199520" cy="23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575"/>
              </a:lnSpc>
            </a:pPr>
            <a:r>
              <a:rPr lang="en-US" sz="1580" b="1" u="none" strike="noStrike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3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88" name="tb_28"/>
          <p:cNvSpPr txBox="1"/>
          <p:nvPr/>
        </p:nvSpPr>
        <p:spPr>
          <a:xfrm>
            <a:off x="7643520" y="1854720"/>
            <a:ext cx="1243080" cy="14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855"/>
              </a:lnSpc>
            </a:pPr>
            <a:r>
              <a:rPr lang="en-US" sz="710" b="1" u="none" strike="noStrike" spc="37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INCLUSIVE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437" name="vedas_media_4_11"/>
          <p:cNvPicPr/>
          <p:nvPr/>
        </p:nvPicPr>
        <p:blipFill>
          <a:blip r:embed="rId8"/>
          <a:stretch>
            <a:fillRect/>
          </a:stretch>
        </p:blipFill>
        <p:spPr>
          <a:xfrm>
            <a:off x="8924925" y="1264444"/>
            <a:ext cx="1385888" cy="819150"/>
          </a:xfrm>
          <a:prstGeom prst="rect">
            <a:avLst/>
          </a:prstGeom>
        </p:spPr>
      </p:pic>
      <p:sp>
        <p:nvSpPr>
          <p:cNvPr id="424" name="Polygon 424"/>
          <p:cNvSpPr/>
          <p:nvPr/>
        </p:nvSpPr>
        <p:spPr>
          <a:xfrm>
            <a:off x="9518809" y="1393984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60" y="0"/>
                </a:moveTo>
                <a:lnTo>
                  <a:pt x="198120" y="99060"/>
                </a:lnTo>
                <a:lnTo>
                  <a:pt x="99060" y="198120"/>
                </a:lnTo>
                <a:lnTo>
                  <a:pt x="0" y="99060"/>
                </a:lnTo>
                <a:close/>
              </a:path>
            </a:pathLst>
          </a:custGeom>
          <a:noFill/>
          <a:ln w="15240" cap="flat">
            <a:solidFill>
              <a:srgbClr val="2E6FB7"/>
            </a:solidFill>
            <a:miter lim="800000"/>
          </a:ln>
        </p:spPr>
      </p:sp>
      <p:sp>
        <p:nvSpPr>
          <p:cNvPr id="425" name="Line 425"/>
          <p:cNvSpPr/>
          <p:nvPr/>
        </p:nvSpPr>
        <p:spPr>
          <a:xfrm>
            <a:off x="9617869" y="1439704"/>
            <a:ext cx="9525" cy="106680"/>
          </a:xfrm>
          <a:custGeom>
            <a:avLst/>
            <a:gdLst/>
            <a:ahLst/>
            <a:cxnLst/>
            <a:rect l="l" t="t" r="r" b="b"/>
            <a:pathLst>
              <a:path w="9525" h="106680">
                <a:moveTo>
                  <a:pt x="0" y="0"/>
                </a:moveTo>
                <a:lnTo>
                  <a:pt x="0" y="106680"/>
                </a:lnTo>
              </a:path>
            </a:pathLst>
          </a:custGeom>
          <a:noFill/>
          <a:ln w="15240" cap="flat">
            <a:solidFill>
              <a:srgbClr val="2E6FB7"/>
            </a:solidFill>
            <a:miter lim="800000"/>
          </a:ln>
        </p:spPr>
      </p:sp>
      <p:sp>
        <p:nvSpPr>
          <p:cNvPr id="391" name="tb_29"/>
          <p:cNvSpPr txBox="1"/>
          <p:nvPr/>
        </p:nvSpPr>
        <p:spPr>
          <a:xfrm>
            <a:off x="9029520" y="1626120"/>
            <a:ext cx="1199520" cy="23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575"/>
              </a:lnSpc>
            </a:pPr>
            <a:r>
              <a:rPr lang="en-US" sz="1580" b="1" u="none" strike="noStrike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2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92" name="tb_30"/>
          <p:cNvSpPr txBox="1"/>
          <p:nvPr/>
        </p:nvSpPr>
        <p:spPr>
          <a:xfrm>
            <a:off x="9029520" y="1854720"/>
            <a:ext cx="1238400" cy="14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855"/>
              </a:lnSpc>
            </a:pPr>
            <a:r>
              <a:rPr lang="en-US" sz="710" b="1" u="none" strike="noStrike" spc="37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PARALLEL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438" name="vedas_media_4_13"/>
          <p:cNvPicPr/>
          <p:nvPr/>
        </p:nvPicPr>
        <p:blipFill>
          <a:blip r:embed="rId9"/>
          <a:stretch>
            <a:fillRect/>
          </a:stretch>
        </p:blipFill>
        <p:spPr>
          <a:xfrm>
            <a:off x="10310812" y="1264444"/>
            <a:ext cx="1385888" cy="819150"/>
          </a:xfrm>
          <a:prstGeom prst="rect">
            <a:avLst/>
          </a:prstGeom>
        </p:spPr>
      </p:pic>
      <p:sp>
        <p:nvSpPr>
          <p:cNvPr id="426" name="Polygon 426"/>
          <p:cNvSpPr/>
          <p:nvPr/>
        </p:nvSpPr>
        <p:spPr>
          <a:xfrm>
            <a:off x="10904696" y="1393984"/>
            <a:ext cx="198120" cy="198120"/>
          </a:xfrm>
          <a:custGeom>
            <a:avLst/>
            <a:gdLst/>
            <a:ahLst/>
            <a:cxnLst/>
            <a:rect l="l" t="t" r="r" b="b"/>
            <a:pathLst>
              <a:path w="198120" h="198120">
                <a:moveTo>
                  <a:pt x="99060" y="0"/>
                </a:moveTo>
                <a:lnTo>
                  <a:pt x="198120" y="99060"/>
                </a:lnTo>
                <a:lnTo>
                  <a:pt x="99060" y="198120"/>
                </a:lnTo>
                <a:lnTo>
                  <a:pt x="0" y="99060"/>
                </a:lnTo>
                <a:close/>
              </a:path>
            </a:pathLst>
          </a:custGeom>
          <a:noFill/>
          <a:ln w="15240" cap="flat">
            <a:solidFill>
              <a:srgbClr val="E8A33D"/>
            </a:solidFill>
            <a:miter lim="800000"/>
          </a:ln>
        </p:spPr>
      </p:sp>
      <p:sp>
        <p:nvSpPr>
          <p:cNvPr id="427" name="Ellipse 427"/>
          <p:cNvSpPr/>
          <p:nvPr/>
        </p:nvSpPr>
        <p:spPr>
          <a:xfrm>
            <a:off x="10980896" y="1470184"/>
            <a:ext cx="45720" cy="45720"/>
          </a:xfrm>
          <a:prstGeom prst="ellipse">
            <a:avLst/>
          </a:prstGeom>
          <a:noFill/>
          <a:ln w="15240" cap="flat">
            <a:solidFill>
              <a:srgbClr val="E8A33D"/>
            </a:solidFill>
            <a:miter lim="800000"/>
          </a:ln>
        </p:spPr>
      </p:sp>
      <p:sp>
        <p:nvSpPr>
          <p:cNvPr id="395" name="tb_31"/>
          <p:cNvSpPr txBox="1"/>
          <p:nvPr/>
        </p:nvSpPr>
        <p:spPr>
          <a:xfrm>
            <a:off x="10415520" y="1626120"/>
            <a:ext cx="1199520" cy="23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575"/>
              </a:lnSpc>
            </a:pPr>
            <a:r>
              <a:rPr lang="en-US" sz="158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2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96" name="tb_32"/>
          <p:cNvSpPr txBox="1"/>
          <p:nvPr/>
        </p:nvSpPr>
        <p:spPr>
          <a:xfrm>
            <a:off x="10415520" y="1854720"/>
            <a:ext cx="1253160" cy="14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855"/>
              </a:lnSpc>
            </a:pPr>
            <a:r>
              <a:rPr lang="en-US" sz="710" b="1" u="none" strike="noStrike" spc="37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EVENT-BASED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439" name="vedas_media_4_15"/>
          <p:cNvPicPr/>
          <p:nvPr/>
        </p:nvPicPr>
        <p:blipFill>
          <a:blip r:embed="rId10"/>
          <a:stretch>
            <a:fillRect/>
          </a:stretch>
        </p:blipFill>
        <p:spPr>
          <a:xfrm>
            <a:off x="6153150" y="2083594"/>
            <a:ext cx="5543550" cy="806500"/>
          </a:xfrm>
          <a:prstGeom prst="rect">
            <a:avLst/>
          </a:prstGeom>
        </p:spPr>
      </p:pic>
      <p:sp>
        <p:nvSpPr>
          <p:cNvPr id="398" name="tb_33"/>
          <p:cNvSpPr txBox="1"/>
          <p:nvPr/>
        </p:nvSpPr>
        <p:spPr>
          <a:xfrm>
            <a:off x="6314760" y="2216880"/>
            <a:ext cx="6619680" cy="15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900"/>
              </a:lnSpc>
            </a:pPr>
            <a:r>
              <a:rPr lang="en-US" sz="750" b="1" u="none" strike="noStrike" spc="88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CONDITIONS WRITTEN IN FEEL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399" name="tb_34"/>
          <p:cNvSpPr txBox="1"/>
          <p:nvPr/>
        </p:nvSpPr>
        <p:spPr>
          <a:xfrm>
            <a:off x="6314760" y="2369160"/>
            <a:ext cx="6263280" cy="19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50"/>
              </a:lnSpc>
            </a:pP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Gateway conditions use FEEL expressions on process variables: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00" name="vedas_native_shape_4_11"/>
          <p:cNvSpPr/>
          <p:nvPr/>
        </p:nvSpPr>
        <p:spPr>
          <a:xfrm>
            <a:off x="6314760" y="2594520"/>
            <a:ext cx="1518120" cy="152280"/>
          </a:xfrm>
          <a:prstGeom prst="roundRect">
            <a:avLst>
              <a:gd name="adj" fmla="val 25000"/>
            </a:avLst>
          </a:prstGeom>
          <a:solidFill>
            <a:srgbClr val="EEF2F7"/>
          </a:solidFill>
          <a:ln w="9360">
            <a:solidFill>
              <a:srgbClr val="D6DEE8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01" name="tb_35"/>
          <p:cNvSpPr txBox="1"/>
          <p:nvPr/>
        </p:nvSpPr>
        <p:spPr>
          <a:xfrm>
            <a:off x="6314760" y="2594520"/>
            <a:ext cx="1821600" cy="188280"/>
          </a:xfrm>
          <a:prstGeom prst="rect">
            <a:avLst/>
          </a:prstGeom>
          <a:noFill/>
          <a:ln w="0">
            <a:noFill/>
          </a:ln>
        </p:spPr>
        <p:txBody>
          <a:bodyPr lIns="56880" tIns="9360" rIns="56880" bIns="9360" anchor="ctr">
            <a:noAutofit/>
          </a:bodyPr>
          <a:p>
            <a:pPr>
              <a:lnSpc>
                <a:spcPts val="945"/>
              </a:lnSpc>
            </a:pPr>
            <a:r>
              <a:rPr lang="en-US" sz="790" b="0" u="none" strike="noStrike">
                <a:solidFill>
                  <a:srgbClr val="1F3A5F"/>
                </a:solidFill>
                <a:effectLst/>
                <a:uFillTx/>
                <a:latin typeface="Consolas"/>
                <a:ea typeface="Consolas"/>
              </a:rPr>
              <a:t>dispatchStatus = "SENT"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02" name="vedas_native_shape_4_12"/>
          <p:cNvSpPr/>
          <p:nvPr/>
        </p:nvSpPr>
        <p:spPr>
          <a:xfrm>
            <a:off x="7904160" y="2594520"/>
            <a:ext cx="1698840" cy="152280"/>
          </a:xfrm>
          <a:prstGeom prst="roundRect">
            <a:avLst>
              <a:gd name="adj" fmla="val 25000"/>
            </a:avLst>
          </a:prstGeom>
          <a:solidFill>
            <a:srgbClr val="EEF2F7"/>
          </a:solidFill>
          <a:ln w="9360">
            <a:solidFill>
              <a:srgbClr val="D6DEE8"/>
            </a:solidFill>
            <a:round/>
          </a:ln>
        </p:spPr>
        <p:txBody>
          <a:bodyPr lIns="94680" tIns="49680" rIns="94680" bIns="4968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03" name="tb_36"/>
          <p:cNvSpPr txBox="1"/>
          <p:nvPr/>
        </p:nvSpPr>
        <p:spPr>
          <a:xfrm>
            <a:off x="7904160" y="2594520"/>
            <a:ext cx="2038320" cy="188280"/>
          </a:xfrm>
          <a:prstGeom prst="rect">
            <a:avLst/>
          </a:prstGeom>
          <a:noFill/>
          <a:ln w="0">
            <a:noFill/>
          </a:ln>
        </p:spPr>
        <p:txBody>
          <a:bodyPr lIns="56880" tIns="9360" rIns="56880" bIns="9360" anchor="ctr">
            <a:noAutofit/>
          </a:bodyPr>
          <a:p>
            <a:pPr>
              <a:lnSpc>
                <a:spcPts val="945"/>
              </a:lnSpc>
            </a:pPr>
            <a:r>
              <a:rPr lang="en-US" sz="790" b="0" u="none" strike="noStrike">
                <a:solidFill>
                  <a:srgbClr val="1F3A5F"/>
                </a:solidFill>
                <a:effectLst/>
                <a:uFillTx/>
                <a:latin typeface="Consolas"/>
                <a:ea typeface="Consolas"/>
              </a:rPr>
              <a:t>contactOutcome = "REACHED"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440" name="vedas_media_4_16"/>
          <p:cNvPicPr/>
          <p:nvPr/>
        </p:nvPicPr>
        <p:blipFill>
          <a:blip r:embed="rId11"/>
          <a:stretch>
            <a:fillRect/>
          </a:stretch>
        </p:blipFill>
        <p:spPr>
          <a:xfrm>
            <a:off x="6153150" y="2890093"/>
            <a:ext cx="5543550" cy="736699"/>
          </a:xfrm>
          <a:prstGeom prst="rect">
            <a:avLst/>
          </a:prstGeom>
        </p:spPr>
      </p:pic>
      <p:sp>
        <p:nvSpPr>
          <p:cNvPr id="405" name="tb_37"/>
          <p:cNvSpPr txBox="1"/>
          <p:nvPr/>
        </p:nvSpPr>
        <p:spPr>
          <a:xfrm>
            <a:off x="6314760" y="3023280"/>
            <a:ext cx="6537600" cy="15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900"/>
              </a:lnSpc>
            </a:pPr>
            <a:r>
              <a:rPr lang="en-US" sz="750" b="1" u="none" strike="noStrike" spc="88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EVENT-BASED GATEWAYS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06" name="tb_38"/>
          <p:cNvSpPr txBox="1"/>
          <p:nvPr/>
        </p:nvSpPr>
        <p:spPr>
          <a:xfrm>
            <a:off x="6314760" y="3175560"/>
            <a:ext cx="5323680" cy="31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250"/>
              </a:lnSpc>
            </a:pP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The 2 event-based gateways </a:t>
            </a:r>
            <a:r>
              <a:rPr lang="en-US" sz="860" b="1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wait for inter-pool messages</a:t>
            </a: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— the process pauses until a message arrives from another participant pool.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441" name="vedas_media_4_17"/>
          <p:cNvPicPr/>
          <p:nvPr/>
        </p:nvPicPr>
        <p:blipFill>
          <a:blip r:embed="rId12"/>
          <a:stretch>
            <a:fillRect/>
          </a:stretch>
        </p:blipFill>
        <p:spPr>
          <a:xfrm>
            <a:off x="6153150" y="3626793"/>
            <a:ext cx="5543550" cy="889099"/>
          </a:xfrm>
          <a:prstGeom prst="rect">
            <a:avLst/>
          </a:prstGeom>
        </p:spPr>
      </p:pic>
      <p:sp>
        <p:nvSpPr>
          <p:cNvPr id="408" name="tb_39"/>
          <p:cNvSpPr txBox="1"/>
          <p:nvPr/>
        </p:nvSpPr>
        <p:spPr>
          <a:xfrm>
            <a:off x="6314760" y="3759840"/>
            <a:ext cx="6496200" cy="15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900"/>
              </a:lnSpc>
            </a:pPr>
            <a:r>
              <a:rPr lang="en-US" sz="750" b="1" u="none" strike="noStrike" spc="88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DESIGN PRINCIPLES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09" name="vedas_native_shape_4_13"/>
          <p:cNvSpPr/>
          <p:nvPr/>
        </p:nvSpPr>
        <p:spPr>
          <a:xfrm>
            <a:off x="6314760" y="3936240"/>
            <a:ext cx="75960" cy="75960"/>
          </a:xfrm>
          <a:prstGeom prst="roundRect">
            <a:avLst>
              <a:gd name="adj" fmla="val 25000"/>
            </a:avLst>
          </a:prstGeom>
          <a:solidFill>
            <a:srgbClr val="2E6FB7"/>
          </a:solidFill>
          <a:ln w="0">
            <a:noFill/>
          </a:ln>
        </p:spPr>
        <p:txBody>
          <a:bodyPr lIns="90000" tIns="30960" rIns="90000" bIns="3096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10" name="tb_40"/>
          <p:cNvSpPr txBox="1"/>
          <p:nvPr/>
        </p:nvSpPr>
        <p:spPr>
          <a:xfrm>
            <a:off x="6448320" y="3912480"/>
            <a:ext cx="959040" cy="15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35"/>
              </a:lnSpc>
            </a:pPr>
            <a:r>
              <a:rPr lang="en-US" sz="86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Business Rules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11" name="tb_41"/>
          <p:cNvSpPr txBox="1"/>
          <p:nvPr/>
        </p:nvSpPr>
        <p:spPr>
          <a:xfrm>
            <a:off x="6314760" y="4064760"/>
            <a:ext cx="2613240" cy="31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250"/>
              </a:lnSpc>
            </a:pP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Business rules live in </a:t>
            </a:r>
            <a:r>
              <a:rPr lang="en-US" sz="860" b="1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gateway conditions</a:t>
            </a: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and </a:t>
            </a:r>
            <a:r>
              <a:rPr lang="en-US" sz="860" b="1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form validation</a:t>
            </a: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12" name="vedas_native_shape_4_14"/>
          <p:cNvSpPr/>
          <p:nvPr/>
        </p:nvSpPr>
        <p:spPr>
          <a:xfrm>
            <a:off x="8972280" y="3936240"/>
            <a:ext cx="75960" cy="75960"/>
          </a:xfrm>
          <a:prstGeom prst="roundRect">
            <a:avLst>
              <a:gd name="adj" fmla="val 25000"/>
            </a:avLst>
          </a:prstGeom>
          <a:solidFill>
            <a:srgbClr val="1F3A5F"/>
          </a:solidFill>
          <a:ln w="0">
            <a:noFill/>
          </a:ln>
        </p:spPr>
        <p:txBody>
          <a:bodyPr lIns="90000" tIns="30960" rIns="90000" bIns="3096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13" name="tb_42"/>
          <p:cNvSpPr txBox="1"/>
          <p:nvPr/>
        </p:nvSpPr>
        <p:spPr>
          <a:xfrm>
            <a:off x="9105840" y="3912480"/>
            <a:ext cx="1486800" cy="15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35"/>
              </a:lnSpc>
            </a:pPr>
            <a:r>
              <a:rPr lang="en-US" sz="86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Separation of Concerns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14" name="tb_43"/>
          <p:cNvSpPr txBox="1"/>
          <p:nvPr/>
        </p:nvSpPr>
        <p:spPr>
          <a:xfrm>
            <a:off x="8972280" y="4064760"/>
            <a:ext cx="2613240" cy="31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250"/>
              </a:lnSpc>
            </a:pP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Responsibilities are </a:t>
            </a:r>
            <a:r>
              <a:rPr lang="en-US" sz="860" b="1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separated by lanes</a:t>
            </a: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across the model.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442" name="vedas_media_4_18"/>
          <p:cNvPicPr/>
          <p:nvPr/>
        </p:nvPicPr>
        <p:blipFill>
          <a:blip r:embed="rId13"/>
          <a:stretch>
            <a:fillRect/>
          </a:stretch>
        </p:blipFill>
        <p:spPr>
          <a:xfrm>
            <a:off x="6191250" y="4553992"/>
            <a:ext cx="5467350" cy="469999"/>
          </a:xfrm>
          <a:prstGeom prst="rect">
            <a:avLst/>
          </a:prstGeom>
        </p:spPr>
      </p:pic>
      <p:sp>
        <p:nvSpPr>
          <p:cNvPr id="416" name="tb_44"/>
          <p:cNvSpPr txBox="1"/>
          <p:nvPr/>
        </p:nvSpPr>
        <p:spPr>
          <a:xfrm>
            <a:off x="6190920" y="4553640"/>
            <a:ext cx="5576400" cy="505800"/>
          </a:xfrm>
          <a:prstGeom prst="rect">
            <a:avLst/>
          </a:prstGeom>
          <a:noFill/>
          <a:ln w="0">
            <a:noFill/>
          </a:ln>
        </p:spPr>
        <p:txBody>
          <a:bodyPr lIns="114120" tIns="66600" rIns="114120" bIns="66600" anchor="ctr">
            <a:noAutofit/>
          </a:bodyPr>
          <a:p>
            <a:pPr>
              <a:lnSpc>
                <a:spcPts val="1250"/>
              </a:lnSpc>
            </a:pPr>
            <a:r>
              <a:rPr lang="en-US" sz="86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Key takeaway:</a:t>
            </a:r>
            <a:r>
              <a:rPr lang="en-US" sz="86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execution is fully delegated — workers own the logic, gateways own the routing, and boundary events own the failure paths.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443" name="vedas_media_4_19"/>
          <p:cNvPicPr/>
          <p:nvPr/>
        </p:nvPicPr>
        <p:blipFill>
          <a:blip r:embed="rId14"/>
          <a:stretch>
            <a:fillRect/>
          </a:stretch>
        </p:blipFill>
        <p:spPr>
          <a:xfrm>
            <a:off x="0" y="6534150"/>
            <a:ext cx="12192000" cy="323850"/>
          </a:xfrm>
          <a:prstGeom prst="rect">
            <a:avLst/>
          </a:prstGeom>
        </p:spPr>
      </p:pic>
      <p:sp>
        <p:nvSpPr>
          <p:cNvPr id="418" name="tb_45"/>
          <p:cNvSpPr txBox="1"/>
          <p:nvPr/>
        </p:nvSpPr>
        <p:spPr>
          <a:xfrm>
            <a:off x="533160" y="6634080"/>
            <a:ext cx="2697120" cy="16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Segoe UI"/>
                <a:ea typeface="Segoe UI"/>
              </a:rPr>
              <a:t>UFCEP6-0-3 · Hospital Patient Pathway v14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19" name="tb_46"/>
          <p:cNvSpPr txBox="1"/>
          <p:nvPr/>
        </p:nvSpPr>
        <p:spPr>
          <a:xfrm>
            <a:off x="11425320" y="6629400"/>
            <a:ext cx="279360" cy="17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80"/>
              </a:lnSpc>
            </a:pPr>
            <a:r>
              <a:rPr lang="en-US" sz="90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5 / 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vedas_media_5_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57150"/>
          </a:xfrm>
          <a:prstGeom prst="rect">
            <a:avLst/>
          </a:prstGeom>
        </p:spPr>
      </p:pic>
      <p:pic>
        <p:nvPicPr>
          <p:cNvPr id="499" name="vedas_media_5_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57150"/>
            <a:ext cx="12192000" cy="875258"/>
          </a:xfrm>
          <a:prstGeom prst="rect">
            <a:avLst/>
          </a:prstGeom>
        </p:spPr>
      </p:pic>
      <p:sp>
        <p:nvSpPr>
          <p:cNvPr id="423" name="tb_0"/>
          <p:cNvSpPr txBox="1"/>
          <p:nvPr/>
        </p:nvSpPr>
        <p:spPr>
          <a:xfrm>
            <a:off x="457200" y="266400"/>
            <a:ext cx="13973040" cy="19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35"/>
              </a:lnSpc>
            </a:pPr>
            <a:r>
              <a:rPr lang="en-US" sz="820" b="1" u="none" strike="noStrike" spc="113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AUTOMATION &amp; VERIFICATION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24" name="tb_1"/>
          <p:cNvSpPr txBox="1"/>
          <p:nvPr/>
        </p:nvSpPr>
        <p:spPr>
          <a:xfrm>
            <a:off x="457200" y="480960"/>
            <a:ext cx="13532760" cy="344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2430"/>
              </a:lnSpc>
            </a:pPr>
            <a:r>
              <a:rPr lang="en-US" sz="202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Collapsed BPMN + Driver Script </a:t>
            </a:r>
            <a:r>
              <a:rPr lang="en-US" sz="1500" b="0" u="none" strike="noStrike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— Running 36 Forms across 9 Pools Continuously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25" name="tb_2"/>
          <p:cNvSpPr txBox="1"/>
          <p:nvPr/>
        </p:nvSpPr>
        <p:spPr>
          <a:xfrm>
            <a:off x="457200" y="1103760"/>
            <a:ext cx="6905880" cy="19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35"/>
              </a:lnSpc>
            </a:pPr>
            <a:r>
              <a:rPr lang="en-US" sz="820" b="1" u="none" strike="noStrike" spc="113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1 · COLLAPSED BPMN SUBPROCESSES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500" name="vedas_media_5_2"/>
          <p:cNvPicPr/>
          <p:nvPr/>
        </p:nvPicPr>
        <p:blipFill>
          <a:blip r:embed="rId3"/>
          <a:stretch>
            <a:fillRect/>
          </a:stretch>
        </p:blipFill>
        <p:spPr>
          <a:xfrm>
            <a:off x="419100" y="1337221"/>
            <a:ext cx="5376565" cy="4377779"/>
          </a:xfrm>
          <a:prstGeom prst="rect">
            <a:avLst/>
          </a:prstGeom>
        </p:spPr>
      </p:pic>
      <p:sp>
        <p:nvSpPr>
          <p:cNvPr id="427" name="tb_3"/>
          <p:cNvSpPr txBox="1"/>
          <p:nvPr/>
        </p:nvSpPr>
        <p:spPr>
          <a:xfrm>
            <a:off x="637920" y="1537200"/>
            <a:ext cx="5925600" cy="21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405"/>
              </a:lnSpc>
            </a:pPr>
            <a:r>
              <a:rPr lang="en-US" sz="940" b="0" u="none" strike="noStrike">
                <a:solidFill>
                  <a:srgbClr val="5A6472"/>
                </a:solidFill>
                <a:effectLst/>
                <a:uFillTx/>
                <a:latin typeface="Segoe UI"/>
                <a:ea typeface="Segoe UI"/>
              </a:rPr>
              <a:t>Three collapsed subprocesses absorb the repetitive administrative work inside the pools: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28" name="vedas_native_shape_5_0"/>
          <p:cNvSpPr/>
          <p:nvPr/>
        </p:nvSpPr>
        <p:spPr>
          <a:xfrm>
            <a:off x="637920" y="1810800"/>
            <a:ext cx="4938120" cy="578520"/>
          </a:xfrm>
          <a:prstGeom prst="roundRect">
            <a:avLst>
              <a:gd name="adj" fmla="val 9877"/>
            </a:avLst>
          </a:prstGeom>
          <a:solidFill>
            <a:srgbClr val="F2F6FB"/>
          </a:solidFill>
          <a:ln w="18720">
            <a:solidFill>
              <a:srgbClr val="2E6FB7"/>
            </a:solidFill>
            <a:round/>
          </a:ln>
        </p:spPr>
        <p:txBody>
          <a:bodyPr lIns="99360" tIns="54360" rIns="99360" bIns="5436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91" name="Rectangle 491"/>
          <p:cNvSpPr/>
          <p:nvPr/>
        </p:nvSpPr>
        <p:spPr>
          <a:xfrm>
            <a:off x="814388" y="2068661"/>
            <a:ext cx="142875" cy="103188"/>
          </a:xfrm>
          <a:prstGeom prst="roundRect">
            <a:avLst>
              <a:gd name="adj" fmla="val 15385"/>
            </a:avLst>
          </a:prstGeom>
          <a:noFill/>
          <a:ln w="15875" cap="rnd">
            <a:solidFill>
              <a:srgbClr val="2E6FB7"/>
            </a:solidFill>
            <a:round/>
          </a:ln>
        </p:spPr>
      </p:sp>
      <p:sp>
        <p:nvSpPr>
          <p:cNvPr id="492" name="Freeform 492"/>
          <p:cNvSpPr/>
          <p:nvPr/>
        </p:nvSpPr>
        <p:spPr>
          <a:xfrm>
            <a:off x="814388" y="2036911"/>
            <a:ext cx="142875" cy="63500"/>
          </a:xfrm>
          <a:custGeom>
            <a:avLst/>
            <a:gdLst/>
            <a:ahLst/>
            <a:cxnLst/>
            <a:rect l="l" t="t" r="r" b="b"/>
            <a:pathLst>
              <a:path w="142875" h="63500">
                <a:moveTo>
                  <a:pt x="0" y="63500"/>
                </a:moveTo>
                <a:lnTo>
                  <a:pt x="142875" y="63500"/>
                </a:lnTo>
                <a:moveTo>
                  <a:pt x="39688" y="31750"/>
                </a:moveTo>
                <a:lnTo>
                  <a:pt x="39688" y="0"/>
                </a:lnTo>
                <a:lnTo>
                  <a:pt x="103187" y="0"/>
                </a:lnTo>
                <a:lnTo>
                  <a:pt x="103187" y="31750"/>
                </a:lnTo>
              </a:path>
            </a:pathLst>
          </a:custGeom>
          <a:noFill/>
          <a:ln w="15875" cap="rnd">
            <a:solidFill>
              <a:srgbClr val="2E6FB7"/>
            </a:solidFill>
            <a:round/>
          </a:ln>
        </p:spPr>
      </p:sp>
      <p:sp>
        <p:nvSpPr>
          <p:cNvPr id="430" name="tb_4"/>
          <p:cNvSpPr txBox="1"/>
          <p:nvPr/>
        </p:nvSpPr>
        <p:spPr>
          <a:xfrm>
            <a:off x="1095120" y="1925280"/>
            <a:ext cx="189216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515"/>
              </a:lnSpc>
            </a:pPr>
            <a:r>
              <a:rPr lang="en-US" sz="101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Dispatch the clinic letter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31" name="tb_5"/>
          <p:cNvSpPr txBox="1"/>
          <p:nvPr/>
        </p:nvSpPr>
        <p:spPr>
          <a:xfrm>
            <a:off x="1095120" y="2118240"/>
            <a:ext cx="1892160" cy="19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35"/>
              </a:lnSpc>
            </a:pPr>
            <a:r>
              <a:rPr lang="en-US" sz="820" b="0" u="none" strike="noStrike">
                <a:solidFill>
                  <a:srgbClr val="8A93A0"/>
                </a:solidFill>
                <a:effectLst/>
                <a:uFillTx/>
                <a:latin typeface="Consolas"/>
                <a:ea typeface="Consolas"/>
              </a:rPr>
              <a:t>+ad hoc: collapsed marker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32" name="vedas_native_shape_5_1"/>
          <p:cNvSpPr/>
          <p:nvPr/>
        </p:nvSpPr>
        <p:spPr>
          <a:xfrm>
            <a:off x="637920" y="2484720"/>
            <a:ext cx="4938120" cy="578520"/>
          </a:xfrm>
          <a:prstGeom prst="roundRect">
            <a:avLst>
              <a:gd name="adj" fmla="val 9877"/>
            </a:avLst>
          </a:prstGeom>
          <a:solidFill>
            <a:srgbClr val="F2F6FB"/>
          </a:solidFill>
          <a:ln w="18720">
            <a:solidFill>
              <a:srgbClr val="2E6FB7"/>
            </a:solidFill>
            <a:round/>
          </a:ln>
        </p:spPr>
        <p:txBody>
          <a:bodyPr lIns="99360" tIns="54360" rIns="99360" bIns="5436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93" name="Freeform 493"/>
          <p:cNvSpPr/>
          <p:nvPr/>
        </p:nvSpPr>
        <p:spPr>
          <a:xfrm>
            <a:off x="806794" y="2694841"/>
            <a:ext cx="158496" cy="158496"/>
          </a:xfrm>
          <a:custGeom>
            <a:avLst/>
            <a:gdLst/>
            <a:ahLst/>
            <a:cxnLst/>
            <a:rect l="l" t="t" r="r" b="b"/>
            <a:pathLst>
              <a:path w="158496" h="158496">
                <a:moveTo>
                  <a:pt x="158406" y="118358"/>
                </a:moveTo>
                <a:lnTo>
                  <a:pt x="158406" y="142171"/>
                </a:lnTo>
                <a:cubicBezTo>
                  <a:pt x="158429" y="146671"/>
                  <a:pt x="156540" y="150970"/>
                  <a:pt x="153210" y="153997"/>
                </a:cubicBezTo>
                <a:cubicBezTo>
                  <a:pt x="149880" y="157024"/>
                  <a:pt x="145422" y="158496"/>
                  <a:pt x="140944" y="158046"/>
                </a:cubicBezTo>
                <a:cubicBezTo>
                  <a:pt x="116582" y="155281"/>
                  <a:pt x="93205" y="146854"/>
                  <a:pt x="72681" y="133439"/>
                </a:cubicBezTo>
                <a:cubicBezTo>
                  <a:pt x="53503" y="121253"/>
                  <a:pt x="37243" y="104993"/>
                  <a:pt x="25056" y="85814"/>
                </a:cubicBezTo>
                <a:cubicBezTo>
                  <a:pt x="11642" y="65291"/>
                  <a:pt x="3215" y="41914"/>
                  <a:pt x="450" y="17552"/>
                </a:cubicBezTo>
                <a:cubicBezTo>
                  <a:pt x="0" y="13074"/>
                  <a:pt x="1472" y="8616"/>
                  <a:pt x="4499" y="5286"/>
                </a:cubicBezTo>
                <a:cubicBezTo>
                  <a:pt x="7526" y="1956"/>
                  <a:pt x="11825" y="67"/>
                  <a:pt x="16325" y="89"/>
                </a:cubicBezTo>
                <a:lnTo>
                  <a:pt x="40138" y="89"/>
                </a:lnTo>
                <a:cubicBezTo>
                  <a:pt x="48054" y="0"/>
                  <a:pt x="54826" y="5756"/>
                  <a:pt x="56013" y="13583"/>
                </a:cubicBezTo>
                <a:cubicBezTo>
                  <a:pt x="56806" y="21521"/>
                  <a:pt x="59188" y="29458"/>
                  <a:pt x="61569" y="36602"/>
                </a:cubicBezTo>
                <a:cubicBezTo>
                  <a:pt x="63616" y="42456"/>
                  <a:pt x="62065" y="48967"/>
                  <a:pt x="57600" y="53271"/>
                </a:cubicBezTo>
                <a:lnTo>
                  <a:pt x="48075" y="62796"/>
                </a:lnTo>
                <a:cubicBezTo>
                  <a:pt x="59375" y="82668"/>
                  <a:pt x="75828" y="99121"/>
                  <a:pt x="95700" y="110421"/>
                </a:cubicBezTo>
                <a:lnTo>
                  <a:pt x="105225" y="100896"/>
                </a:lnTo>
                <a:cubicBezTo>
                  <a:pt x="109529" y="96430"/>
                  <a:pt x="116039" y="94880"/>
                  <a:pt x="121894" y="96927"/>
                </a:cubicBezTo>
                <a:cubicBezTo>
                  <a:pt x="129038" y="99308"/>
                  <a:pt x="136975" y="101689"/>
                  <a:pt x="144913" y="102483"/>
                </a:cubicBezTo>
                <a:cubicBezTo>
                  <a:pt x="152740" y="103670"/>
                  <a:pt x="158496" y="110442"/>
                  <a:pt x="158406" y="118358"/>
                </a:cubicBezTo>
                <a:close/>
              </a:path>
            </a:pathLst>
          </a:custGeom>
          <a:noFill/>
          <a:ln w="15875" cap="rnd">
            <a:solidFill>
              <a:srgbClr val="2E6FB7"/>
            </a:solidFill>
            <a:round/>
          </a:ln>
        </p:spPr>
      </p:sp>
      <p:sp>
        <p:nvSpPr>
          <p:cNvPr id="434" name="tb_6"/>
          <p:cNvSpPr txBox="1"/>
          <p:nvPr/>
        </p:nvSpPr>
        <p:spPr>
          <a:xfrm>
            <a:off x="1095120" y="2599200"/>
            <a:ext cx="240876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515"/>
              </a:lnSpc>
            </a:pPr>
            <a:r>
              <a:rPr lang="en-US" sz="101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Contact the patient by telephone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35" name="tb_7"/>
          <p:cNvSpPr txBox="1"/>
          <p:nvPr/>
        </p:nvSpPr>
        <p:spPr>
          <a:xfrm>
            <a:off x="1095120" y="2792160"/>
            <a:ext cx="2408760" cy="19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35"/>
              </a:lnSpc>
            </a:pPr>
            <a:r>
              <a:rPr lang="en-US" sz="820" b="0" u="none" strike="noStrike">
                <a:solidFill>
                  <a:srgbClr val="8A93A0"/>
                </a:solidFill>
                <a:effectLst/>
                <a:uFillTx/>
                <a:latin typeface="Consolas"/>
                <a:ea typeface="Consolas"/>
              </a:rPr>
              <a:t>+ad hoc: collapsed marker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36" name="vedas_native_shape_5_2"/>
          <p:cNvSpPr/>
          <p:nvPr/>
        </p:nvSpPr>
        <p:spPr>
          <a:xfrm>
            <a:off x="637920" y="3158640"/>
            <a:ext cx="4938120" cy="578520"/>
          </a:xfrm>
          <a:prstGeom prst="roundRect">
            <a:avLst>
              <a:gd name="adj" fmla="val 9877"/>
            </a:avLst>
          </a:prstGeom>
          <a:solidFill>
            <a:srgbClr val="F2F6FB"/>
          </a:solidFill>
          <a:ln w="18720">
            <a:solidFill>
              <a:srgbClr val="2E6FB7"/>
            </a:solidFill>
            <a:round/>
          </a:ln>
        </p:spPr>
        <p:txBody>
          <a:bodyPr lIns="99360" tIns="54360" rIns="99360" bIns="5436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94" name="Rectangle 494"/>
          <p:cNvSpPr/>
          <p:nvPr/>
        </p:nvSpPr>
        <p:spPr>
          <a:xfrm>
            <a:off x="822325" y="3376761"/>
            <a:ext cx="127000" cy="142875"/>
          </a:xfrm>
          <a:prstGeom prst="roundRect">
            <a:avLst>
              <a:gd name="adj" fmla="val 12500"/>
            </a:avLst>
          </a:prstGeom>
          <a:noFill/>
          <a:ln w="15875" cap="rnd">
            <a:solidFill>
              <a:srgbClr val="2E6FB7"/>
            </a:solidFill>
            <a:round/>
          </a:ln>
        </p:spPr>
      </p:sp>
      <p:sp>
        <p:nvSpPr>
          <p:cNvPr id="495" name="Freeform 495"/>
          <p:cNvSpPr/>
          <p:nvPr/>
        </p:nvSpPr>
        <p:spPr>
          <a:xfrm>
            <a:off x="854075" y="3408511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moveTo>
                  <a:pt x="0" y="31750"/>
                </a:moveTo>
                <a:lnTo>
                  <a:pt x="63500" y="31750"/>
                </a:lnTo>
                <a:moveTo>
                  <a:pt x="0" y="63500"/>
                </a:moveTo>
                <a:lnTo>
                  <a:pt x="39687" y="63500"/>
                </a:lnTo>
              </a:path>
            </a:pathLst>
          </a:custGeom>
          <a:noFill/>
          <a:ln w="15875" cap="rnd">
            <a:solidFill>
              <a:srgbClr val="2E6FB7"/>
            </a:solidFill>
            <a:round/>
          </a:ln>
        </p:spPr>
      </p:sp>
      <p:sp>
        <p:nvSpPr>
          <p:cNvPr id="438" name="tb_8"/>
          <p:cNvSpPr txBox="1"/>
          <p:nvPr/>
        </p:nvSpPr>
        <p:spPr>
          <a:xfrm>
            <a:off x="1095120" y="3273120"/>
            <a:ext cx="359208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515"/>
              </a:lnSpc>
            </a:pPr>
            <a:r>
              <a:rPr lang="en-US" sz="101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Produce the weekly overdue correspondence list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39" name="tb_9"/>
          <p:cNvSpPr txBox="1"/>
          <p:nvPr/>
        </p:nvSpPr>
        <p:spPr>
          <a:xfrm>
            <a:off x="1095120" y="3465720"/>
            <a:ext cx="3592080" cy="19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35"/>
              </a:lnSpc>
            </a:pPr>
            <a:r>
              <a:rPr lang="en-US" sz="820" b="0" u="none" strike="noStrike">
                <a:solidFill>
                  <a:srgbClr val="8A93A0"/>
                </a:solidFill>
                <a:effectLst/>
                <a:uFillTx/>
                <a:latin typeface="Consolas"/>
                <a:ea typeface="Consolas"/>
              </a:rPr>
              <a:t>+ad hoc: collapsed marker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501" name="vedas_media_5_6"/>
          <p:cNvPicPr/>
          <p:nvPr/>
        </p:nvPicPr>
        <p:blipFill>
          <a:blip r:embed="rId4"/>
          <a:stretch>
            <a:fillRect/>
          </a:stretch>
        </p:blipFill>
        <p:spPr>
          <a:xfrm>
            <a:off x="638175" y="3851821"/>
            <a:ext cx="4938415" cy="458986"/>
          </a:xfrm>
          <a:prstGeom prst="rect">
            <a:avLst/>
          </a:prstGeom>
        </p:spPr>
      </p:pic>
      <p:sp>
        <p:nvSpPr>
          <p:cNvPr id="441" name="tb_10"/>
          <p:cNvSpPr txBox="1"/>
          <p:nvPr/>
        </p:nvSpPr>
        <p:spPr>
          <a:xfrm>
            <a:off x="637920" y="3956400"/>
            <a:ext cx="3598560" cy="35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395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DI preserved inside the boxes</a:t>
            </a:r>
            <a:r>
              <a:rPr lang="en-US" sz="900" b="0" u="none" strike="noStrike">
                <a:solidFill>
                  <a:srgbClr val="5A6472"/>
                </a:solidFill>
                <a:effectLst/>
                <a:uFillTx/>
                <a:latin typeface="Segoe UI"/>
                <a:ea typeface="Segoe UI"/>
              </a:rPr>
              <a:t> — Modeler still shows the fully laid-out flows.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42" name="tb_11"/>
          <p:cNvSpPr txBox="1"/>
          <p:nvPr/>
        </p:nvSpPr>
        <p:spPr>
          <a:xfrm>
            <a:off x="4299480" y="3962160"/>
            <a:ext cx="304920" cy="37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2700"/>
              </a:lnSpc>
            </a:pPr>
            <a:r>
              <a:rPr lang="en-US" sz="1800" b="1" u="none" strike="sngStrike">
                <a:solidFill>
                  <a:srgbClr val="B6BEC9"/>
                </a:solidFill>
                <a:effectLst/>
                <a:uFillTx/>
                <a:latin typeface="Segoe UI"/>
                <a:ea typeface="Segoe UI"/>
              </a:rPr>
              <a:t>39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96" name="Freeform 496"/>
          <p:cNvSpPr/>
          <p:nvPr/>
        </p:nvSpPr>
        <p:spPr>
          <a:xfrm>
            <a:off x="4665911" y="4090839"/>
            <a:ext cx="100012" cy="85725"/>
          </a:xfrm>
          <a:custGeom>
            <a:avLst/>
            <a:gdLst/>
            <a:ahLst/>
            <a:cxnLst/>
            <a:rect l="l" t="t" r="r" b="b"/>
            <a:pathLst>
              <a:path w="100012" h="85725">
                <a:moveTo>
                  <a:pt x="0" y="42862"/>
                </a:moveTo>
                <a:lnTo>
                  <a:pt x="100012" y="42862"/>
                </a:lnTo>
                <a:moveTo>
                  <a:pt x="57150" y="0"/>
                </a:moveTo>
                <a:lnTo>
                  <a:pt x="100012" y="42862"/>
                </a:lnTo>
                <a:lnTo>
                  <a:pt x="57150" y="85725"/>
                </a:lnTo>
              </a:path>
            </a:pathLst>
          </a:custGeom>
          <a:noFill/>
          <a:ln w="17145" cap="rnd">
            <a:solidFill>
              <a:srgbClr val="E8A33D"/>
            </a:solidFill>
            <a:round/>
          </a:ln>
        </p:spPr>
      </p:sp>
      <p:sp>
        <p:nvSpPr>
          <p:cNvPr id="444" name="tb_12"/>
          <p:cNvSpPr txBox="1"/>
          <p:nvPr/>
        </p:nvSpPr>
        <p:spPr>
          <a:xfrm>
            <a:off x="4877640" y="3962160"/>
            <a:ext cx="152280" cy="37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2700"/>
              </a:lnSpc>
            </a:pPr>
            <a:r>
              <a:rPr lang="en-US" sz="180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45" name="tb_13"/>
          <p:cNvSpPr txBox="1"/>
          <p:nvPr/>
        </p:nvSpPr>
        <p:spPr>
          <a:xfrm>
            <a:off x="5081040" y="4065480"/>
            <a:ext cx="594000" cy="17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070"/>
              </a:lnSpc>
            </a:pPr>
            <a:r>
              <a:rPr lang="en-US" sz="820" b="0" u="none" strike="noStrike">
                <a:solidFill>
                  <a:srgbClr val="5A6472"/>
                </a:solidFill>
                <a:effectLst/>
                <a:uFillTx/>
                <a:latin typeface="Segoe UI"/>
                <a:ea typeface="Segoe UI"/>
              </a:rPr>
              <a:t>lint errors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46" name="tb_14"/>
          <p:cNvSpPr txBox="1"/>
          <p:nvPr/>
        </p:nvSpPr>
        <p:spPr>
          <a:xfrm>
            <a:off x="5947920" y="1103760"/>
            <a:ext cx="7647840" cy="21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35"/>
              </a:lnSpc>
            </a:pPr>
            <a:r>
              <a:rPr lang="en-US" sz="820" b="1" u="none" strike="noStrike" spc="113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2 · DRIVER SCRIPT — </a:t>
            </a:r>
            <a:r>
              <a:rPr lang="en-US" sz="900" b="1" u="none" strike="noStrike" spc="113">
                <a:solidFill>
                  <a:srgbClr val="1F3A5F"/>
                </a:solidFill>
                <a:effectLst/>
                <a:uFillTx/>
                <a:latin typeface="JetBrains Mono"/>
                <a:ea typeface="JetBrains Mono"/>
              </a:rPr>
              <a:t>tools/auto_driver.py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502" name="vedas_media_5_8"/>
          <p:cNvPicPr/>
          <p:nvPr/>
        </p:nvPicPr>
        <p:blipFill>
          <a:blip r:embed="rId5"/>
          <a:stretch>
            <a:fillRect/>
          </a:stretch>
        </p:blipFill>
        <p:spPr>
          <a:xfrm>
            <a:off x="5909965" y="1356271"/>
            <a:ext cx="5862935" cy="3653879"/>
          </a:xfrm>
          <a:prstGeom prst="rect">
            <a:avLst/>
          </a:prstGeom>
        </p:spPr>
      </p:pic>
      <p:sp>
        <p:nvSpPr>
          <p:cNvPr id="448" name="tb_15"/>
          <p:cNvSpPr txBox="1"/>
          <p:nvPr/>
        </p:nvSpPr>
        <p:spPr>
          <a:xfrm>
            <a:off x="6129000" y="1537200"/>
            <a:ext cx="6509160" cy="19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6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Covers the 3 unattended gaps: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49" name="vedas_native_shape_5_3"/>
          <p:cNvSpPr/>
          <p:nvPr/>
        </p:nvSpPr>
        <p:spPr>
          <a:xfrm>
            <a:off x="6129000" y="1792440"/>
            <a:ext cx="190440" cy="190440"/>
          </a:xfrm>
          <a:prstGeom prst="ellipse">
            <a:avLst/>
          </a:prstGeom>
          <a:solidFill>
            <a:srgbClr val="2E6FB7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50" name="tb_16"/>
          <p:cNvSpPr txBox="1"/>
          <p:nvPr/>
        </p:nvSpPr>
        <p:spPr>
          <a:xfrm>
            <a:off x="6129000" y="1792440"/>
            <a:ext cx="194040" cy="22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235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1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51" name="tb_17"/>
          <p:cNvSpPr txBox="1"/>
          <p:nvPr/>
        </p:nvSpPr>
        <p:spPr>
          <a:xfrm>
            <a:off x="6414480" y="1792440"/>
            <a:ext cx="2410920" cy="21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305"/>
              </a:lnSpc>
            </a:pP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Runs </a:t>
            </a:r>
            <a:r>
              <a:rPr lang="en-US" sz="900" b="1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workers</a:t>
            </a: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for </a:t>
            </a:r>
            <a:r>
              <a:rPr lang="en-US" sz="90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35</a:t>
            </a: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external job types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52" name="vedas_native_shape_5_4"/>
          <p:cNvSpPr/>
          <p:nvPr/>
        </p:nvSpPr>
        <p:spPr>
          <a:xfrm>
            <a:off x="6129000" y="2077920"/>
            <a:ext cx="190440" cy="190440"/>
          </a:xfrm>
          <a:prstGeom prst="ellipse">
            <a:avLst/>
          </a:prstGeom>
          <a:solidFill>
            <a:srgbClr val="2E6FB7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53" name="tb_18"/>
          <p:cNvSpPr txBox="1"/>
          <p:nvPr/>
        </p:nvSpPr>
        <p:spPr>
          <a:xfrm>
            <a:off x="6129000" y="2077920"/>
            <a:ext cx="194040" cy="22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235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54" name="tb_19"/>
          <p:cNvSpPr txBox="1"/>
          <p:nvPr/>
        </p:nvSpPr>
        <p:spPr>
          <a:xfrm>
            <a:off x="6414480" y="2077920"/>
            <a:ext cx="3007080" cy="21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305"/>
              </a:lnSpc>
            </a:pP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Fills &amp; announces </a:t>
            </a:r>
            <a:r>
              <a:rPr lang="en-US" sz="900" b="1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all forms</a:t>
            </a: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via </a:t>
            </a:r>
            <a:r>
              <a:rPr lang="en-US" sz="900" b="1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Tasklist v2 REST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55" name="vedas_native_shape_5_5"/>
          <p:cNvSpPr/>
          <p:nvPr/>
        </p:nvSpPr>
        <p:spPr>
          <a:xfrm>
            <a:off x="6129000" y="2363760"/>
            <a:ext cx="190440" cy="190440"/>
          </a:xfrm>
          <a:prstGeom prst="ellipse">
            <a:avLst/>
          </a:prstGeom>
          <a:solidFill>
            <a:srgbClr val="2E6FB7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56" name="tb_20"/>
          <p:cNvSpPr txBox="1"/>
          <p:nvPr/>
        </p:nvSpPr>
        <p:spPr>
          <a:xfrm>
            <a:off x="6129000" y="2363760"/>
            <a:ext cx="194040" cy="22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ts val="1235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3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57" name="tb_21"/>
          <p:cNvSpPr txBox="1"/>
          <p:nvPr/>
        </p:nvSpPr>
        <p:spPr>
          <a:xfrm>
            <a:off x="6414480" y="2363760"/>
            <a:ext cx="5309640" cy="21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305"/>
              </a:lnSpc>
            </a:pP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Replays </a:t>
            </a:r>
            <a:r>
              <a:rPr lang="en-US" sz="900" b="1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inter-pool message handoffs</a:t>
            </a: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— correlation keys read from live subscriptions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58" name="vedas_native_shape_5_6"/>
          <p:cNvSpPr/>
          <p:nvPr/>
        </p:nvSpPr>
        <p:spPr>
          <a:xfrm>
            <a:off x="6129000" y="2668680"/>
            <a:ext cx="5424480" cy="699480"/>
          </a:xfrm>
          <a:prstGeom prst="roundRect">
            <a:avLst>
              <a:gd name="adj" fmla="val 8170"/>
            </a:avLst>
          </a:prstGeom>
          <a:solidFill>
            <a:srgbClr val="1F3A5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59" name="tb_22"/>
          <p:cNvSpPr txBox="1"/>
          <p:nvPr/>
        </p:nvSpPr>
        <p:spPr>
          <a:xfrm>
            <a:off x="6262200" y="2763720"/>
            <a:ext cx="6189480" cy="20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335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JetBrains Mono"/>
                <a:ea typeface="JetBrains Mono"/>
              </a:rPr>
              <a:t>python3 auto_driver.py --all </a:t>
            </a:r>
            <a:r>
              <a:rPr lang="en-US" sz="860" b="0" i="1" u="none" strike="noStrike">
                <a:solidFill>
                  <a:srgbClr val="F3C77E"/>
                </a:solidFill>
                <a:effectLst/>
                <a:uFillTx/>
                <a:latin typeface="JetBrains Mono"/>
                <a:ea typeface="JetBrains Mono"/>
              </a:rPr>
              <a:t>~80s</a:t>
            </a:r>
            <a:r>
              <a:rPr lang="en-US" sz="860" b="0" i="1" u="none" strike="noStrike">
                <a:solidFill>
                  <a:srgbClr val="8FA8C4"/>
                </a:solidFill>
                <a:effectLst/>
                <a:uFillTx/>
                <a:latin typeface="JetBrains Mono"/>
                <a:ea typeface="JetBrains Mono"/>
              </a:rPr>
              <a:t> regression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60" name="tb_23"/>
          <p:cNvSpPr txBox="1"/>
          <p:nvPr/>
        </p:nvSpPr>
        <p:spPr>
          <a:xfrm>
            <a:off x="6262200" y="2933640"/>
            <a:ext cx="6189480" cy="20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335"/>
              </a:lnSpc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JetBrains Mono"/>
                <a:ea typeface="JetBrains Mono"/>
              </a:rPr>
              <a:t>python3 auto_driver.py --all </a:t>
            </a:r>
            <a:r>
              <a:rPr lang="en-US" sz="860" b="1" u="none" strike="noStrike">
                <a:solidFill>
                  <a:srgbClr val="F3C77E"/>
                </a:solidFill>
                <a:effectLst/>
                <a:uFillTx/>
                <a:latin typeface="JetBrains Mono"/>
                <a:ea typeface="JetBrains Mono"/>
              </a:rPr>
              <a:t>--manual-forms --timeout 600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61" name="tb_24"/>
          <p:cNvSpPr txBox="1"/>
          <p:nvPr/>
        </p:nvSpPr>
        <p:spPr>
          <a:xfrm>
            <a:off x="6262200" y="3103200"/>
            <a:ext cx="6189480" cy="20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335"/>
              </a:lnSpc>
            </a:pPr>
            <a:r>
              <a:rPr lang="en-US" sz="860" b="0" i="1" u="none" strike="noStrike">
                <a:solidFill>
                  <a:srgbClr val="8FA8C4"/>
                </a:solidFill>
                <a:effectLst/>
                <a:uFillTx/>
                <a:latin typeface="JetBrains Mono"/>
                <a:ea typeface="JetBrains Mono"/>
              </a:rPr>
              <a:t># demo / evidence — human clicks in Tasklist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503" name="vedas_media_5_9"/>
          <p:cNvPicPr/>
          <p:nvPr/>
        </p:nvPicPr>
        <p:blipFill>
          <a:blip r:embed="rId6"/>
          <a:stretch>
            <a:fillRect/>
          </a:stretch>
        </p:blipFill>
        <p:spPr>
          <a:xfrm>
            <a:off x="6129040" y="3463528"/>
            <a:ext cx="5424785" cy="404812"/>
          </a:xfrm>
          <a:prstGeom prst="rect">
            <a:avLst/>
          </a:prstGeom>
        </p:spPr>
      </p:pic>
      <p:sp>
        <p:nvSpPr>
          <p:cNvPr id="463" name="tb_25"/>
          <p:cNvSpPr txBox="1"/>
          <p:nvPr/>
        </p:nvSpPr>
        <p:spPr>
          <a:xfrm>
            <a:off x="6252840" y="3520440"/>
            <a:ext cx="1270080" cy="15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95"/>
              </a:lnSpc>
            </a:pPr>
            <a:r>
              <a:rPr lang="en-US" sz="86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demo-timers variant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64" name="tb_26"/>
          <p:cNvSpPr txBox="1"/>
          <p:nvPr/>
        </p:nvSpPr>
        <p:spPr>
          <a:xfrm>
            <a:off x="7311240" y="3520440"/>
            <a:ext cx="749520" cy="15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95"/>
              </a:lnSpc>
            </a:pPr>
            <a:r>
              <a:rPr lang="en-US" sz="860" b="0" u="none" strike="noStrike">
                <a:solidFill>
                  <a:srgbClr val="5A6472"/>
                </a:solidFill>
                <a:effectLst/>
                <a:uFillTx/>
                <a:latin typeface="Segoe UI"/>
                <a:ea typeface="Segoe UI"/>
              </a:rPr>
              <a:t>— shortens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504" name="vedas_media_5_10"/>
          <p:cNvPicPr/>
          <p:nvPr/>
        </p:nvPicPr>
        <p:blipFill>
          <a:blip r:embed="rId7"/>
          <a:stretch>
            <a:fillRect/>
          </a:stretch>
        </p:blipFill>
        <p:spPr>
          <a:xfrm>
            <a:off x="7936260" y="3501628"/>
            <a:ext cx="621060" cy="161925"/>
          </a:xfrm>
          <a:prstGeom prst="rect">
            <a:avLst/>
          </a:prstGeom>
        </p:spPr>
      </p:pic>
      <p:sp>
        <p:nvSpPr>
          <p:cNvPr id="466" name="tb_27"/>
          <p:cNvSpPr txBox="1"/>
          <p:nvPr/>
        </p:nvSpPr>
        <p:spPr>
          <a:xfrm>
            <a:off x="7936200" y="3501360"/>
            <a:ext cx="745200" cy="197640"/>
          </a:xfrm>
          <a:prstGeom prst="rect">
            <a:avLst/>
          </a:prstGeom>
          <a:noFill/>
          <a:ln w="0">
            <a:noFill/>
          </a:ln>
        </p:spPr>
        <p:txBody>
          <a:bodyPr lIns="37800" tIns="0" rIns="37800" bIns="0" anchor="ctr">
            <a:noAutofit/>
          </a:bodyPr>
          <a:p>
            <a:pPr>
              <a:lnSpc>
                <a:spcPts val="1295"/>
              </a:lnSpc>
            </a:pPr>
            <a:r>
              <a:rPr lang="en-US" sz="860" b="0" u="none" strike="noStrike">
                <a:solidFill>
                  <a:srgbClr val="2E6FB7"/>
                </a:solidFill>
                <a:effectLst/>
                <a:uFillTx/>
                <a:latin typeface="JetBrains Mono"/>
                <a:ea typeface="JetBrains Mono"/>
              </a:rPr>
              <a:t>R/PT168H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67" name="tb_28"/>
          <p:cNvSpPr txBox="1"/>
          <p:nvPr/>
        </p:nvSpPr>
        <p:spPr>
          <a:xfrm>
            <a:off x="8557200" y="3520440"/>
            <a:ext cx="936720" cy="15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95"/>
              </a:lnSpc>
            </a:pPr>
            <a:r>
              <a:rPr lang="en-US" sz="860" b="0" u="none" strike="noStrike">
                <a:solidFill>
                  <a:srgbClr val="5A6472"/>
                </a:solidFill>
                <a:effectLst/>
                <a:uFillTx/>
                <a:latin typeface="Segoe UI"/>
                <a:ea typeface="Segoe UI"/>
              </a:rPr>
              <a:t>weekly report ·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505" name="vedas_media_5_11"/>
          <p:cNvPicPr/>
          <p:nvPr/>
        </p:nvPicPr>
        <p:blipFill>
          <a:blip r:embed="rId8"/>
          <a:stretch>
            <a:fillRect/>
          </a:stretch>
        </p:blipFill>
        <p:spPr>
          <a:xfrm>
            <a:off x="9338370" y="3501628"/>
            <a:ext cx="292447" cy="161925"/>
          </a:xfrm>
          <a:prstGeom prst="rect">
            <a:avLst/>
          </a:prstGeom>
        </p:spPr>
      </p:pic>
      <p:sp>
        <p:nvSpPr>
          <p:cNvPr id="469" name="tb_29"/>
          <p:cNvSpPr txBox="1"/>
          <p:nvPr/>
        </p:nvSpPr>
        <p:spPr>
          <a:xfrm>
            <a:off x="9338040" y="3501360"/>
            <a:ext cx="350640" cy="197640"/>
          </a:xfrm>
          <a:prstGeom prst="rect">
            <a:avLst/>
          </a:prstGeom>
          <a:noFill/>
          <a:ln w="0">
            <a:noFill/>
          </a:ln>
        </p:spPr>
        <p:txBody>
          <a:bodyPr lIns="37800" tIns="0" rIns="37800" bIns="0" anchor="ctr">
            <a:noAutofit/>
          </a:bodyPr>
          <a:p>
            <a:pPr>
              <a:lnSpc>
                <a:spcPts val="1295"/>
              </a:lnSpc>
            </a:pPr>
            <a:r>
              <a:rPr lang="en-US" sz="860" b="0" u="none" strike="noStrike">
                <a:solidFill>
                  <a:srgbClr val="2E6FB7"/>
                </a:solidFill>
                <a:effectLst/>
                <a:uFillTx/>
                <a:latin typeface="JetBrains Mono"/>
                <a:ea typeface="JetBrains Mono"/>
              </a:rPr>
              <a:t>P3D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70" name="tb_30"/>
          <p:cNvSpPr txBox="1"/>
          <p:nvPr/>
        </p:nvSpPr>
        <p:spPr>
          <a:xfrm>
            <a:off x="9630720" y="3520440"/>
            <a:ext cx="942120" cy="15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95"/>
              </a:lnSpc>
            </a:pPr>
            <a:r>
              <a:rPr lang="en-US" sz="860" b="0" u="none" strike="noStrike">
                <a:solidFill>
                  <a:srgbClr val="5A6472"/>
                </a:solidFill>
                <a:effectLst/>
                <a:uFillTx/>
                <a:latin typeface="Segoe UI"/>
                <a:ea typeface="Segoe UI"/>
              </a:rPr>
              <a:t>capacity retry ·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506" name="vedas_media_5_12"/>
          <p:cNvPicPr/>
          <p:nvPr/>
        </p:nvPicPr>
        <p:blipFill>
          <a:blip r:embed="rId9"/>
          <a:stretch>
            <a:fillRect/>
          </a:stretch>
        </p:blipFill>
        <p:spPr>
          <a:xfrm>
            <a:off x="10416034" y="3501628"/>
            <a:ext cx="292447" cy="161925"/>
          </a:xfrm>
          <a:prstGeom prst="rect">
            <a:avLst/>
          </a:prstGeom>
        </p:spPr>
      </p:pic>
      <p:sp>
        <p:nvSpPr>
          <p:cNvPr id="472" name="tb_31"/>
          <p:cNvSpPr txBox="1"/>
          <p:nvPr/>
        </p:nvSpPr>
        <p:spPr>
          <a:xfrm>
            <a:off x="10415880" y="3501360"/>
            <a:ext cx="350640" cy="197640"/>
          </a:xfrm>
          <a:prstGeom prst="rect">
            <a:avLst/>
          </a:prstGeom>
          <a:noFill/>
          <a:ln w="0">
            <a:noFill/>
          </a:ln>
        </p:spPr>
        <p:txBody>
          <a:bodyPr lIns="37800" tIns="0" rIns="37800" bIns="0" anchor="ctr">
            <a:noAutofit/>
          </a:bodyPr>
          <a:p>
            <a:pPr>
              <a:lnSpc>
                <a:spcPts val="1295"/>
              </a:lnSpc>
            </a:pPr>
            <a:r>
              <a:rPr lang="en-US" sz="860" b="0" u="none" strike="noStrike">
                <a:solidFill>
                  <a:srgbClr val="2E6FB7"/>
                </a:solidFill>
                <a:effectLst/>
                <a:uFillTx/>
                <a:latin typeface="JetBrains Mono"/>
                <a:ea typeface="JetBrains Mono"/>
              </a:rPr>
              <a:t>P7D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73" name="tb_32"/>
          <p:cNvSpPr txBox="1"/>
          <p:nvPr/>
        </p:nvSpPr>
        <p:spPr>
          <a:xfrm>
            <a:off x="6252840" y="3520440"/>
            <a:ext cx="4979160" cy="23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295"/>
              </a:lnSpc>
            </a:pPr>
            <a:r>
              <a:rPr lang="en-US" sz="860" b="0" u="none" strike="noStrike">
                <a:solidFill>
                  <a:srgbClr val="5A6472"/>
                </a:solidFill>
                <a:effectLst/>
                <a:uFillTx/>
                <a:latin typeface="Segoe UI"/>
                <a:ea typeface="Segoe UI"/>
              </a:rPr>
              <a:t>overdue boundary to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74" name="tb_33"/>
          <p:cNvSpPr txBox="1"/>
          <p:nvPr/>
        </p:nvSpPr>
        <p:spPr>
          <a:xfrm>
            <a:off x="6875640" y="3684960"/>
            <a:ext cx="713160" cy="15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95"/>
              </a:lnSpc>
            </a:pPr>
            <a:r>
              <a:rPr lang="en-US" sz="86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15 seconds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75" name="tb_34"/>
          <p:cNvSpPr txBox="1"/>
          <p:nvPr/>
        </p:nvSpPr>
        <p:spPr>
          <a:xfrm>
            <a:off x="7470360" y="3684960"/>
            <a:ext cx="2524320" cy="15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95"/>
              </a:lnSpc>
            </a:pPr>
            <a:r>
              <a:rPr lang="en-US" sz="860" b="0" u="none" strike="noStrike">
                <a:solidFill>
                  <a:srgbClr val="5A6472"/>
                </a:solidFill>
                <a:effectLst/>
                <a:uFillTx/>
                <a:latin typeface="Segoe UI"/>
                <a:ea typeface="Segoe UI"/>
              </a:rPr>
              <a:t>for live escalation &amp; compensation demos.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507" name="vedas_media_5_13"/>
          <p:cNvPicPr/>
          <p:nvPr/>
        </p:nvPicPr>
        <p:blipFill>
          <a:blip r:embed="rId10"/>
          <a:stretch>
            <a:fillRect/>
          </a:stretch>
        </p:blipFill>
        <p:spPr>
          <a:xfrm>
            <a:off x="5909965" y="5048250"/>
            <a:ext cx="5862935" cy="666750"/>
          </a:xfrm>
          <a:prstGeom prst="rect">
            <a:avLst/>
          </a:prstGeom>
        </p:spPr>
      </p:pic>
      <p:sp>
        <p:nvSpPr>
          <p:cNvPr id="477" name="tb_35"/>
          <p:cNvSpPr txBox="1"/>
          <p:nvPr/>
        </p:nvSpPr>
        <p:spPr>
          <a:xfrm>
            <a:off x="6129000" y="5257800"/>
            <a:ext cx="330480" cy="28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945"/>
              </a:lnSpc>
            </a:pPr>
            <a:r>
              <a:rPr lang="en-US" sz="1950" b="1" u="none" strike="noStrike">
                <a:solidFill>
                  <a:srgbClr val="1F3A5F"/>
                </a:solidFill>
                <a:effectLst/>
                <a:uFillTx/>
                <a:latin typeface="Segoe UI"/>
                <a:ea typeface="Segoe UI"/>
              </a:rPr>
              <a:t>34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78" name="tb_36"/>
          <p:cNvSpPr txBox="1"/>
          <p:nvPr/>
        </p:nvSpPr>
        <p:spPr>
          <a:xfrm>
            <a:off x="6499440" y="5209920"/>
            <a:ext cx="5154840" cy="34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ts val="1350"/>
              </a:lnSpc>
            </a:pPr>
            <a:r>
              <a:rPr lang="en-US" sz="900" b="1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scenarios chain all </a:t>
            </a:r>
            <a:r>
              <a:rPr lang="en-US" sz="900" b="1" u="none" strike="noStrike">
                <a:solidFill>
                  <a:srgbClr val="E8A33D"/>
                </a:solidFill>
                <a:effectLst/>
                <a:uFillTx/>
                <a:latin typeface="Segoe UI"/>
                <a:ea typeface="Segoe UI"/>
              </a:rPr>
              <a:t>36 forms</a:t>
            </a:r>
            <a:r>
              <a:rPr lang="en-US" sz="900" b="0" u="none" strike="noStrike">
                <a:solidFill>
                  <a:srgbClr val="2B2F36"/>
                </a:solidFill>
                <a:effectLst/>
                <a:uFillTx/>
                <a:latin typeface="Segoe UI"/>
                <a:ea typeface="Segoe UI"/>
              </a:rPr>
              <a:t> — main path plus branches: </a:t>
            </a:r>
            <a:r>
              <a:rPr lang="en-US" sz="900" b="0" u="none" strike="noStrike">
                <a:solidFill>
                  <a:srgbClr val="2E6FB7"/>
                </a:solidFill>
                <a:effectLst/>
                <a:uFillTx/>
                <a:latin typeface="Segoe UI"/>
                <a:ea typeface="Segoe UI"/>
              </a:rPr>
              <a:t>declined payment · confirmation lost · two-stage escalation · chemo capacity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79" name="vedas_native_shape_5_7"/>
          <p:cNvSpPr/>
          <p:nvPr/>
        </p:nvSpPr>
        <p:spPr>
          <a:xfrm>
            <a:off x="457200" y="5829120"/>
            <a:ext cx="11277360" cy="57132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80" name="tb_37"/>
          <p:cNvSpPr txBox="1"/>
          <p:nvPr/>
        </p:nvSpPr>
        <p:spPr>
          <a:xfrm>
            <a:off x="685800" y="5943600"/>
            <a:ext cx="711360" cy="37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2700"/>
              </a:lnSpc>
            </a:pPr>
            <a:r>
              <a:rPr lang="en-US" sz="1800" b="1" u="none" strike="noStrike">
                <a:solidFill>
                  <a:srgbClr val="F3C77E"/>
                </a:solidFill>
                <a:effectLst/>
                <a:uFillTx/>
                <a:latin typeface="Segoe UI"/>
                <a:ea typeface="Segoe UI"/>
              </a:rPr>
              <a:t>36/36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81" name="tb_38"/>
          <p:cNvSpPr txBox="1"/>
          <p:nvPr/>
        </p:nvSpPr>
        <p:spPr>
          <a:xfrm>
            <a:off x="1374120" y="6040440"/>
            <a:ext cx="239544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170"/>
              </a:lnSpc>
            </a:pPr>
            <a:r>
              <a:rPr lang="en-US" sz="900" b="0" u="none" strike="noStrike">
                <a:solidFill>
                  <a:srgbClr val="C9D6E6"/>
                </a:solidFill>
                <a:effectLst/>
                <a:uFillTx/>
                <a:latin typeface="Segoe UI"/>
                <a:ea typeface="Segoe UI"/>
              </a:rPr>
              <a:t>forms covered by automated scenarios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82" name="矩形 481"/>
          <p:cNvSpPr/>
          <p:nvPr/>
        </p:nvSpPr>
        <p:spPr>
          <a:xfrm>
            <a:off x="3590640" y="5972040"/>
            <a:ext cx="9360" cy="285480"/>
          </a:xfrm>
          <a:prstGeom prst="rect">
            <a:avLst/>
          </a:prstGeom>
          <a:solidFill>
            <a:srgbClr val="3C55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83" name="tb_39"/>
          <p:cNvSpPr txBox="1"/>
          <p:nvPr/>
        </p:nvSpPr>
        <p:spPr>
          <a:xfrm>
            <a:off x="4496040" y="5943600"/>
            <a:ext cx="152280" cy="37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2700"/>
              </a:lnSpc>
            </a:pPr>
            <a:r>
              <a:rPr lang="en-US" sz="1800" b="1" u="none" strike="noStrike">
                <a:solidFill>
                  <a:srgbClr val="F3C77E"/>
                </a:solidFill>
                <a:effectLst/>
                <a:uFillTx/>
                <a:latin typeface="Segoe UI"/>
                <a:ea typeface="Segoe UI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84" name="tb_40"/>
          <p:cNvSpPr txBox="1"/>
          <p:nvPr/>
        </p:nvSpPr>
        <p:spPr>
          <a:xfrm>
            <a:off x="4718880" y="6040440"/>
            <a:ext cx="217728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170"/>
              </a:lnSpc>
            </a:pPr>
            <a:r>
              <a:rPr lang="en-US" sz="900" b="0" u="none" strike="noStrike">
                <a:solidFill>
                  <a:srgbClr val="C9D6E6"/>
                </a:solidFill>
                <a:effectLst/>
                <a:uFillTx/>
                <a:latin typeface="Segoe UI"/>
                <a:ea typeface="Segoe UI"/>
              </a:rPr>
              <a:t>pools start instances independently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85" name="矩形 484"/>
          <p:cNvSpPr/>
          <p:nvPr/>
        </p:nvSpPr>
        <p:spPr>
          <a:xfrm>
            <a:off x="7429320" y="5972040"/>
            <a:ext cx="9360" cy="285480"/>
          </a:xfrm>
          <a:prstGeom prst="rect">
            <a:avLst/>
          </a:prstGeom>
          <a:solidFill>
            <a:srgbClr val="3C5578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97" name="Freeform 497"/>
          <p:cNvSpPr/>
          <p:nvPr/>
        </p:nvSpPr>
        <p:spPr>
          <a:xfrm>
            <a:off x="8929836" y="6027737"/>
            <a:ext cx="139700" cy="174625"/>
          </a:xfrm>
          <a:custGeom>
            <a:avLst/>
            <a:gdLst/>
            <a:ahLst/>
            <a:cxnLst/>
            <a:rect l="l" t="t" r="r" b="b"/>
            <a:pathLst>
              <a:path w="139700" h="174625">
                <a:moveTo>
                  <a:pt x="87313" y="0"/>
                </a:moveTo>
                <a:lnTo>
                  <a:pt x="0" y="104775"/>
                </a:lnTo>
                <a:lnTo>
                  <a:pt x="61119" y="104775"/>
                </a:lnTo>
                <a:lnTo>
                  <a:pt x="52388" y="174625"/>
                </a:lnTo>
                <a:lnTo>
                  <a:pt x="139700" y="69850"/>
                </a:lnTo>
                <a:lnTo>
                  <a:pt x="78581" y="69850"/>
                </a:lnTo>
                <a:lnTo>
                  <a:pt x="87313" y="0"/>
                </a:lnTo>
                <a:close/>
              </a:path>
            </a:pathLst>
          </a:custGeom>
          <a:noFill/>
          <a:ln w="17463" cap="rnd">
            <a:solidFill>
              <a:srgbClr val="F3C77E"/>
            </a:solidFill>
            <a:round/>
          </a:ln>
        </p:spPr>
      </p:sp>
      <p:sp>
        <p:nvSpPr>
          <p:cNvPr id="487" name="tb_41"/>
          <p:cNvSpPr txBox="1"/>
          <p:nvPr/>
        </p:nvSpPr>
        <p:spPr>
          <a:xfrm>
            <a:off x="9208440" y="6035760"/>
            <a:ext cx="2756880" cy="19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170"/>
              </a:lnSpc>
            </a:pPr>
            <a:r>
              <a:rPr lang="en-US" sz="900" b="0" u="none" strike="noStrike">
                <a:solidFill>
                  <a:srgbClr val="C9D6E6"/>
                </a:solidFill>
                <a:effectLst/>
                <a:uFillTx/>
                <a:latin typeface="Segoe UI"/>
                <a:ea typeface="Segoe UI"/>
              </a:rPr>
              <a:t>message handoffs present a </a:t>
            </a: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continuous run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pic>
        <p:nvPicPr>
          <p:cNvPr id="508" name="vedas_media_5_15"/>
          <p:cNvPicPr/>
          <p:nvPr/>
        </p:nvPicPr>
        <p:blipFill>
          <a:blip r:embed="rId11"/>
          <a:stretch>
            <a:fillRect/>
          </a:stretch>
        </p:blipFill>
        <p:spPr>
          <a:xfrm>
            <a:off x="0" y="6534150"/>
            <a:ext cx="12192000" cy="323850"/>
          </a:xfrm>
          <a:prstGeom prst="rect">
            <a:avLst/>
          </a:prstGeom>
        </p:spPr>
      </p:pic>
      <p:sp>
        <p:nvSpPr>
          <p:cNvPr id="489" name="tb_42"/>
          <p:cNvSpPr txBox="1"/>
          <p:nvPr/>
        </p:nvSpPr>
        <p:spPr>
          <a:xfrm>
            <a:off x="457200" y="6625800"/>
            <a:ext cx="2950920" cy="18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180"/>
              </a:lnSpc>
            </a:pPr>
            <a:r>
              <a:rPr lang="en-US" sz="790" b="0" u="none" strike="noStrike" spc="45">
                <a:solidFill>
                  <a:srgbClr val="9AA3AF"/>
                </a:solidFill>
                <a:effectLst/>
                <a:uFillTx/>
                <a:latin typeface="Segoe UI"/>
                <a:ea typeface="Segoe UI"/>
              </a:rPr>
              <a:t>UFCEP6-0-3 · Hospital Patient Pathway v14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490" name="tb_43"/>
          <p:cNvSpPr txBox="1"/>
          <p:nvPr/>
        </p:nvSpPr>
        <p:spPr>
          <a:xfrm>
            <a:off x="11521080" y="6622200"/>
            <a:ext cx="255960" cy="19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ts val="1235"/>
              </a:lnSpc>
            </a:pPr>
            <a:r>
              <a:rPr lang="en-US" sz="820" b="1" u="none" strike="noStrike">
                <a:solidFill>
                  <a:srgbClr val="5A6472"/>
                </a:solidFill>
                <a:effectLst/>
                <a:uFillTx/>
                <a:latin typeface="Segoe UI"/>
                <a:ea typeface="Segoe UI"/>
              </a:rPr>
              <a:t>6 / 6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509" name="__marvis_ai_watermark__" descr="marvis-ai-watermark-v1" title="Marvis AI Watermark"/>
          <p:cNvSpPr txBox="1"/>
          <p:nvPr/>
        </p:nvSpPr>
        <p:spPr>
          <a:xfrm>
            <a:off x="7696200" y="6248400"/>
            <a:ext cx="426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</a:rPr>
              <a:t>（内容由AI生成，仅供参考）</a:t>
            </a:r>
            <a:endParaRPr sz="900" b="0" i="0">
              <a:solidFill>
                <a:srgbClr val="9999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6000</Words>
  <Application>WPS 文字</Application>
  <PresentationFormat/>
  <Paragraphs>437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30" baseType="lpstr">
      <vt:lpstr>Arial</vt:lpstr>
      <vt:lpstr>宋体</vt:lpstr>
      <vt:lpstr>Wingdings</vt:lpstr>
      <vt:lpstr>Arial</vt:lpstr>
      <vt:lpstr>Symbol</vt:lpstr>
      <vt:lpstr>Kingsoft Sign</vt:lpstr>
      <vt:lpstr>Times New Roman</vt:lpstr>
      <vt:lpstr>Segoe UI</vt:lpstr>
      <vt:lpstr>Thonburi</vt:lpstr>
      <vt:lpstr>Consolas</vt:lpstr>
      <vt:lpstr>JetBrains Mono</vt:lpstr>
      <vt:lpstr>DejaVu Sans</vt:lpstr>
      <vt:lpstr>苹方-简</vt:lpstr>
      <vt:lpstr>汉仪书宋二KW</vt:lpstr>
      <vt:lpstr>儷宋 Pro</vt:lpstr>
      <vt:lpstr>微软雅黑</vt:lpstr>
      <vt:lpstr>方正雅意黑 GB18030L2</vt:lpstr>
      <vt:lpstr>宋体</vt:lpstr>
      <vt:lpstr>Arial Unicode MS</vt:lpstr>
      <vt:lpstr>Calibri</vt:lpstr>
      <vt:lpstr>Helvetica Neue</vt:lpstr>
      <vt:lpstr>Consolas</vt:lpstr>
      <vt:lpstr>JetBrains Mono</vt:lpstr>
      <vt:lpstr>Segoe UI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WPS_1611310268</cp:lastModifiedBy>
  <cp:revision>3</cp:revision>
  <dcterms:created xsi:type="dcterms:W3CDTF">2026-09-29T05:51:20Z</dcterms:created>
  <dcterms:modified xsi:type="dcterms:W3CDTF">2026-09-29T05:51:20Z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001191440300708461136T1XGW3","ProduceID":"93ba517916add2af8613e0b088eebc39_a8fa438ebbae11f1b172525400248c00","ReservedCode1":"ArhAHV+nFC37549GDq32xp3goPUP3hJelHIL7+iL/IXxaoqrzLQOcZ91T3rOeHFgc73cb886zAMM1WinGgw/ym/bobICxk+2Z+xpabFgrUo/K++mRu+Lzc6U1iRZOt0spgU/UiY3ANjYn/juhbRMGxLImBreWOzdmD3Tzm3osNEMavKRxtv4d060pr4=","ContentPropagator":"001191440300708461136T1XGW3","PropagateID":"93ba517916add2af8613e0b088eebc39_a8fa438ebbae11f1b172525400248c00","ReservedCode2":"ArhAHV+nFC37549GDq32xp3goPUP3hJelHIL7+iL/IXxaoqrzLQOcZ91T3rOeHFgc73cb886zAMM1WinGgw/ym/bobICxk+2Z+xpabFgrUo/K++mRu+Lzc6U1iRZOt0spgU/UiY3ANjYn/juhbRMGxLImBreWOzdmD3Tzm3osNEMavKRxtv4d060pr4="}</vt:lpwstr>
  </property>
  <property fmtid="{D5CDD505-2E9C-101B-9397-08002B2CF9AE}" pid="3" name="ICV">
    <vt:lpwstr>AC2F183226E8C4FB7B30BB6AAA0CDD40_43</vt:lpwstr>
  </property>
  <property fmtid="{D5CDD505-2E9C-101B-9397-08002B2CF9AE}" pid="4" name="KSOProductBuildVer">
    <vt:lpwstr>2052-12.1.28496.28496</vt:lpwstr>
  </property>
</Properties>
</file>